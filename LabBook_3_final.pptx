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8"/>
  </p:notesMasterIdLst>
  <p:handoutMasterIdLst>
    <p:handoutMasterId r:id="rId19"/>
  </p:handoutMasterIdLst>
  <p:sldIdLst>
    <p:sldId id="256" r:id="rId5"/>
    <p:sldId id="289" r:id="rId6"/>
    <p:sldId id="290" r:id="rId7"/>
    <p:sldId id="296" r:id="rId8"/>
    <p:sldId id="375" r:id="rId9"/>
    <p:sldId id="376" r:id="rId10"/>
    <p:sldId id="389" r:id="rId11"/>
    <p:sldId id="377" r:id="rId12"/>
    <p:sldId id="390" r:id="rId13"/>
    <p:sldId id="380" r:id="rId14"/>
    <p:sldId id="391" r:id="rId15"/>
    <p:sldId id="392" r:id="rId16"/>
    <p:sldId id="288" r:id="rId17"/>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27/05/2026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27/05/2026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DCA2C-DC1C-94AC-4B44-E792E81057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DDFC22-9D5D-07E4-D6DC-4D9F86CC1C7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FDA27A-7867-5B97-DBC7-5AFE21A3C8C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3521375-3405-AFF1-9827-86123C005F32}"/>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3574884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3.0. CIRCUITS &amp; COMPACT MODELS</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a:t>Texto del contenido</a:t>
            </a:r>
          </a:p>
          <a:p>
            <a:pPr lvl="1"/>
            <a:r>
              <a:rPr lang="es-ES"/>
              <a:t>Segundo nivel</a:t>
            </a:r>
          </a:p>
          <a:p>
            <a:pPr lvl="2"/>
            <a:r>
              <a:rPr lang="es-ES"/>
              <a:t>Tercer nivel</a:t>
            </a:r>
          </a:p>
          <a:p>
            <a:pPr lvl="3"/>
            <a:r>
              <a:rPr lang="es-ES"/>
              <a:t>Cuarto nivel</a:t>
            </a:r>
          </a:p>
          <a:p>
            <a:pPr lvl="4"/>
            <a:r>
              <a:rPr lang="es-ES"/>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3.0. CIRCUITS &amp; COMPACT MODELS</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‹Nº›</a:t>
            </a:fld>
            <a:endParaRPr lang="en-US"/>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3.pn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sv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0.sv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a:latin typeface="Lucida Sans"/>
                <a:cs typeface="Lucida Sans"/>
              </a:rPr>
              <a:t>Lab Book 3.0 Circuits and Compact </a:t>
            </a:r>
            <a:r>
              <a:rPr lang="es-ES" sz="3200" b="1" err="1">
                <a:latin typeface="Lucida Sans"/>
                <a:cs typeface="Lucida Sans"/>
              </a:rPr>
              <a:t>Models</a:t>
            </a:r>
            <a:endParaRPr sz="320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err="1">
                <a:latin typeface="Arial"/>
                <a:cs typeface="Arial"/>
              </a:rPr>
              <a:t>Student</a:t>
            </a:r>
            <a:r>
              <a:rPr lang="es-ES" spc="165">
                <a:latin typeface="Arial"/>
                <a:cs typeface="Arial"/>
              </a:rPr>
              <a:t>: </a:t>
            </a:r>
            <a:endParaRPr sz="180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err="1">
                <a:latin typeface="+mj-lt"/>
                <a:cs typeface="Lucida Sans"/>
              </a:rPr>
              <a:t>Instructions</a:t>
            </a:r>
            <a:br>
              <a:rPr lang="es-ES" sz="2400" spc="-5">
                <a:latin typeface="+mj-lt"/>
                <a:cs typeface="Lucida Sans"/>
              </a:rPr>
            </a:br>
            <a:r>
              <a:rPr lang="es-ES" b="0" spc="-5">
                <a:latin typeface="+mj-lt"/>
                <a:cs typeface="Lucida Sans"/>
              </a:rPr>
              <a:t>General</a:t>
            </a:r>
            <a:endParaRPr sz="2400" b="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3.0. CIRCUITS &amp; COMPACT MODELS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https://github.com/cccanvas-upv/cifoin-lab3.git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a:solidFill>
                  <a:sysClr val="windowText" lastClr="000000"/>
                </a:solidFill>
              </a:rPr>
              <a:t>CIRCUITS_&amp;_</a:t>
            </a:r>
            <a:r>
              <a:rPr lang="en-US" kern="0" dirty="0" err="1">
                <a:solidFill>
                  <a:sysClr val="windowText" lastClr="000000"/>
                </a:solidFill>
              </a:rPr>
              <a:t>COMPACT_MODELS.ipynb</a:t>
            </a:r>
            <a:r>
              <a:rPr lang="en-US" kern="0" dirty="0">
                <a:solidFill>
                  <a:sysClr val="windowText" lastClr="000000"/>
                </a:solidFill>
              </a:rPr>
              <a:t> </a:t>
            </a:r>
          </a:p>
          <a:p>
            <a:pPr algn="just"/>
            <a:endParaRPr lang="en-US" b="1" i="1" dirty="0"/>
          </a:p>
          <a:p>
            <a:pPr algn="just"/>
            <a:r>
              <a:rPr lang="en-US" b="1" i="1" dirty="0"/>
              <a:t>Devices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8077200" y="5582965"/>
            <a:ext cx="2176237" cy="369332"/>
          </a:xfrm>
          <a:prstGeom prst="rect">
            <a:avLst/>
          </a:prstGeom>
          <a:noFill/>
        </p:spPr>
        <p:txBody>
          <a:bodyPr wrap="none" rtlCol="0">
            <a:spAutoFit/>
          </a:bodyPr>
          <a:lstStyle/>
          <a:p>
            <a:pPr algn="r"/>
            <a:r>
              <a:rPr lang="en-US" b="1"/>
              <a:t>Ring Resonators (RR)</a:t>
            </a:r>
            <a:endParaRPr lang="en-US"/>
          </a:p>
        </p:txBody>
      </p:sp>
      <p:sp>
        <p:nvSpPr>
          <p:cNvPr id="8" name="CuadroTexto 7">
            <a:extLst>
              <a:ext uri="{FF2B5EF4-FFF2-40B4-BE49-F238E27FC236}">
                <a16:creationId xmlns:a16="http://schemas.microsoft.com/office/drawing/2014/main" id="{7336B5D8-2D70-3E7A-336D-AF55EC49DEB8}"/>
              </a:ext>
            </a:extLst>
          </p:cNvPr>
          <p:cNvSpPr txBox="1"/>
          <p:nvPr/>
        </p:nvSpPr>
        <p:spPr>
          <a:xfrm>
            <a:off x="1039582" y="5579058"/>
            <a:ext cx="4176324" cy="369332"/>
          </a:xfrm>
          <a:prstGeom prst="rect">
            <a:avLst/>
          </a:prstGeom>
          <a:noFill/>
        </p:spPr>
        <p:txBody>
          <a:bodyPr wrap="square">
            <a:spAutoFit/>
          </a:bodyPr>
          <a:lstStyle/>
          <a:p>
            <a:pPr algn="ctr"/>
            <a:r>
              <a:rPr lang="en-US" b="1"/>
              <a:t>Mach-Zehnder Interferometer (MZI)</a:t>
            </a:r>
            <a:endParaRPr lang="en-US"/>
          </a:p>
        </p:txBody>
      </p:sp>
      <p:pic>
        <p:nvPicPr>
          <p:cNvPr id="6" name="Imagen 5" descr="Forma, Rectángulo&#10;&#10;El contenido generado por IA puede ser incorrecto.">
            <a:extLst>
              <a:ext uri="{FF2B5EF4-FFF2-40B4-BE49-F238E27FC236}">
                <a16:creationId xmlns:a16="http://schemas.microsoft.com/office/drawing/2014/main" id="{91C2AB39-AF40-7700-840D-38F2C1813C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428" y="3996612"/>
            <a:ext cx="5240632" cy="1246789"/>
          </a:xfrm>
          <a:prstGeom prst="rect">
            <a:avLst/>
          </a:prstGeom>
        </p:spPr>
      </p:pic>
      <p:pic>
        <p:nvPicPr>
          <p:cNvPr id="14" name="Imagen 13" descr="Imagen que contiene Forma&#10;&#10;El contenido generado por IA puede ser incorrecto.">
            <a:extLst>
              <a:ext uri="{FF2B5EF4-FFF2-40B4-BE49-F238E27FC236}">
                <a16:creationId xmlns:a16="http://schemas.microsoft.com/office/drawing/2014/main" id="{43CD26B4-EB7C-61CA-1BCF-B2AD5F6ED004}"/>
              </a:ext>
            </a:extLst>
          </p:cNvPr>
          <p:cNvPicPr>
            <a:picLocks noChangeAspect="1"/>
          </p:cNvPicPr>
          <p:nvPr/>
        </p:nvPicPr>
        <p:blipFill>
          <a:blip r:embed="rId4" cstate="print">
            <a:extLst>
              <a:ext uri="{28A0092B-C50C-407E-A947-70E740481C1C}">
                <a14:useLocalDpi xmlns:a14="http://schemas.microsoft.com/office/drawing/2010/main" val="0"/>
              </a:ext>
            </a:extLst>
          </a:blip>
          <a:srcRect r="68044"/>
          <a:stretch>
            <a:fillRect/>
          </a:stretch>
        </p:blipFill>
        <p:spPr>
          <a:xfrm>
            <a:off x="6624590" y="3638327"/>
            <a:ext cx="2402774" cy="1900395"/>
          </a:xfrm>
          <a:prstGeom prst="rect">
            <a:avLst/>
          </a:prstGeom>
        </p:spPr>
      </p:pic>
      <p:pic>
        <p:nvPicPr>
          <p:cNvPr id="15" name="Imagen 14" descr="Imagen que contiene Forma&#10;&#10;El contenido generado por IA puede ser incorrecto.">
            <a:extLst>
              <a:ext uri="{FF2B5EF4-FFF2-40B4-BE49-F238E27FC236}">
                <a16:creationId xmlns:a16="http://schemas.microsoft.com/office/drawing/2014/main" id="{B296E22E-7EA4-0FD2-7B98-F6CB5BB97AB9}"/>
              </a:ext>
            </a:extLst>
          </p:cNvPr>
          <p:cNvPicPr>
            <a:picLocks noChangeAspect="1"/>
          </p:cNvPicPr>
          <p:nvPr/>
        </p:nvPicPr>
        <p:blipFill>
          <a:blip r:embed="rId4" cstate="print">
            <a:extLst>
              <a:ext uri="{28A0092B-C50C-407E-A947-70E740481C1C}">
                <a14:useLocalDpi xmlns:a14="http://schemas.microsoft.com/office/drawing/2010/main" val="0"/>
              </a:ext>
            </a:extLst>
          </a:blip>
          <a:srcRect l="67258" r="786"/>
          <a:stretch>
            <a:fillRect/>
          </a:stretch>
        </p:blipFill>
        <p:spPr>
          <a:xfrm>
            <a:off x="9354819" y="3650394"/>
            <a:ext cx="2402774" cy="1900395"/>
          </a:xfrm>
          <a:prstGeom prst="rect">
            <a:avLst/>
          </a:prstGeom>
        </p:spPr>
      </p:pic>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228A8A28-0D43-C564-7B6A-20F75755616A}"/>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a:solidFill>
                <a:schemeClr val="tx1"/>
              </a:solidFill>
              <a:latin typeface="Arial" panose="020B0604020202020204" pitchFamily="34" charset="0"/>
              <a:cs typeface="Arial" panose="020B0604020202020204" pitchFamily="34" charset="0"/>
            </a:endParaRPr>
          </a:p>
          <a:p>
            <a:pPr algn="just"/>
            <a:endParaRPr lang="en-US" sz="1600">
              <a:solidFill>
                <a:schemeClr val="tx1"/>
              </a:solidFill>
              <a:latin typeface="Arial" panose="020B0604020202020204" pitchFamily="34" charset="0"/>
              <a:cs typeface="Arial" panose="020B0604020202020204" pitchFamily="34" charset="0"/>
            </a:endParaRPr>
          </a:p>
          <a:p>
            <a:pPr algn="just"/>
            <a:endParaRPr lang="en-US" sz="160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#1a – Perfectly balanced MZI</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3.0. CIRCUITS &amp; COMPACT MODELS</a:t>
            </a:r>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629399" y="1556991"/>
            <a:ext cx="5050811" cy="2895600"/>
          </a:xfrm>
          <a:prstGeom prst="rect">
            <a:avLst/>
          </a:prstGeom>
        </p:spPr>
        <p:txBody>
          <a:bodyPr>
            <a:normAutofit lnSpcReduction="1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a:t>INSTRUCTOR:</a:t>
            </a:r>
          </a:p>
          <a:p>
            <a:pPr marL="342900" indent="-342900" algn="just">
              <a:buFont typeface="Arial" panose="020B0604020202020204" pitchFamily="34" charset="0"/>
              <a:buChar char="•"/>
            </a:pPr>
            <a:r>
              <a:rPr lang="en-US" sz="2000"/>
              <a:t>Present Python and </a:t>
            </a:r>
            <a:r>
              <a:rPr lang="en-US" sz="2000" err="1"/>
              <a:t>GDSFactory</a:t>
            </a:r>
            <a:r>
              <a:rPr lang="en-US" sz="2000"/>
              <a:t> implementation of the Compact Models and Circuit Model</a:t>
            </a:r>
          </a:p>
          <a:p>
            <a:pPr marL="342900" indent="-342900" algn="just">
              <a:buFont typeface="Arial" panose="020B0604020202020204" pitchFamily="34" charset="0"/>
              <a:buChar char="•"/>
            </a:pPr>
            <a:r>
              <a:rPr lang="en-US" sz="2000"/>
              <a:t>Describe how to </a:t>
            </a:r>
            <a:r>
              <a:rPr lang="es-ES" sz="2000" err="1"/>
              <a:t>simulate</a:t>
            </a:r>
            <a:r>
              <a:rPr lang="es-ES" sz="2000"/>
              <a:t> </a:t>
            </a:r>
            <a:r>
              <a:rPr lang="es-ES" sz="2000" err="1"/>
              <a:t>usin</a:t>
            </a:r>
            <a:r>
              <a:rPr lang="es-ES" sz="2000"/>
              <a:t> SAX </a:t>
            </a:r>
            <a:r>
              <a:rPr lang="es-ES" sz="2000" err="1"/>
              <a:t>library</a:t>
            </a:r>
            <a:endParaRPr lang="en-US" sz="2000"/>
          </a:p>
          <a:p>
            <a:pPr marL="342900" indent="-342900" algn="just">
              <a:buFont typeface="Arial" panose="020B0604020202020204" pitchFamily="34" charset="0"/>
              <a:buChar char="•"/>
            </a:pPr>
            <a:r>
              <a:rPr lang="en-US" sz="2000"/>
              <a:t>Describe the outputs.</a:t>
            </a:r>
          </a:p>
          <a:p>
            <a:pPr marL="0" indent="0" algn="just">
              <a:buNone/>
            </a:pPr>
            <a:r>
              <a:rPr lang="en-US" b="1"/>
              <a:t>ALL EXAMPLE #1: </a:t>
            </a:r>
          </a:p>
          <a:p>
            <a:pPr marL="0" indent="0" algn="just">
              <a:buNone/>
            </a:pPr>
            <a:r>
              <a:rPr lang="en-US" err="1"/>
              <a:t>wvl</a:t>
            </a:r>
            <a:r>
              <a:rPr lang="en-US"/>
              <a:t> [1500-1600] step 0.001</a:t>
            </a:r>
          </a:p>
          <a:p>
            <a:pPr marL="0" indent="0" algn="just">
              <a:buNone/>
            </a:pPr>
            <a:r>
              <a:rPr lang="en-US"/>
              <a:t>dL = 0</a:t>
            </a:r>
          </a:p>
          <a:p>
            <a:pPr marL="0" indent="0" algn="just">
              <a:buNone/>
            </a:pPr>
            <a:r>
              <a:rPr lang="en-US"/>
              <a:t>Kin = Kout = 0.5 for all </a:t>
            </a:r>
            <a:r>
              <a:rPr lang="en-US" err="1"/>
              <a:t>wvl</a:t>
            </a:r>
            <a:endParaRPr lang="en-US"/>
          </a:p>
          <a:p>
            <a:pPr algn="just"/>
            <a:endParaRPr lang="en-US" sz="2000" b="1" i="1"/>
          </a:p>
          <a:p>
            <a:pPr algn="just"/>
            <a:endParaRPr lang="en-US" sz="2000" kern="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39459" y="4942390"/>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s-ES" sz="1200">
                <a:latin typeface="Arial" panose="020B0604020202020204" pitchFamily="34" charset="0"/>
                <a:cs typeface="Arial" panose="020B0604020202020204" pitchFamily="34" charset="0"/>
              </a:rPr>
              <a:t>En un interferómetro Mach-Zehnder perfectamente balanceado, ambos brazos poseen la misma longitud óptica, lo que elimina cualquier diferencia de fase entre las señales. Al emplear acopladores 50:50 (K = 0.5), la potencia de entrada se divide equitativamente y, al recombinarse, las ondas interfieren de forma pura.</a:t>
            </a:r>
            <a:br>
              <a:rPr lang="es-ES" sz="1200">
                <a:latin typeface="Arial" panose="020B0604020202020204" pitchFamily="34" charset="0"/>
                <a:cs typeface="Arial" panose="020B0604020202020204" pitchFamily="34" charset="0"/>
              </a:rPr>
            </a:br>
            <a:r>
              <a:rPr lang="es-ES" sz="1200">
                <a:latin typeface="Arial" panose="020B0604020202020204" pitchFamily="34" charset="0"/>
                <a:cs typeface="Arial" panose="020B0604020202020204" pitchFamily="34" charset="0"/>
              </a:rPr>
              <a:t>Como se observa en la imagen, la salida constructiva presenta una transmisión unitaria (∣H∣2≈1, 0 dB) y la salida destructiva presenta una transmisión prácticamente nula (∣H∣2≈0, valores muy negativos en dB). Además, al no existir diferencia de longitud entre los brazos, la respuesta no depende de la longitud de onda, por lo que la transmisión permanece constante entre 1500 nm y 1600 nm.</a:t>
            </a:r>
            <a:endParaRPr lang="en-US" sz="120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82AE4A84-532D-D50D-F368-79FF1C11E97A}"/>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024B9AF7-5B09-CE7C-68D9-8620B8F4F607}"/>
              </a:ext>
            </a:extLst>
          </p:cNvPr>
          <p:cNvSpPr txBox="1"/>
          <p:nvPr/>
        </p:nvSpPr>
        <p:spPr>
          <a:xfrm>
            <a:off x="1690195" y="2494306"/>
            <a:ext cx="3171061" cy="1154162"/>
          </a:xfrm>
          <a:prstGeom prst="rect">
            <a:avLst/>
          </a:prstGeom>
          <a:noFill/>
        </p:spPr>
        <p:txBody>
          <a:bodyPr wrap="none" rtlCol="0">
            <a:spAutoFit/>
          </a:bodyPr>
          <a:lstStyle/>
          <a:p>
            <a:pPr algn="ctr"/>
            <a:r>
              <a:rPr lang="es-ES"/>
              <a:t>MZI transfer </a:t>
            </a:r>
            <a:r>
              <a:rPr lang="es-ES" err="1"/>
              <a:t>functions</a:t>
            </a:r>
            <a:endParaRPr lang="en-US"/>
          </a:p>
          <a:p>
            <a:pPr algn="ctr"/>
            <a:endParaRPr lang="en-US"/>
          </a:p>
          <a:p>
            <a:pPr algn="ctr"/>
            <a:r>
              <a:rPr lang="en-US"/>
              <a:t>Paste plot here</a:t>
            </a:r>
          </a:p>
        </p:txBody>
      </p:sp>
      <p:pic>
        <p:nvPicPr>
          <p:cNvPr id="11" name="Imagen 10">
            <a:extLst>
              <a:ext uri="{FF2B5EF4-FFF2-40B4-BE49-F238E27FC236}">
                <a16:creationId xmlns:a16="http://schemas.microsoft.com/office/drawing/2014/main" id="{8F3C747C-8572-042C-174F-169D4578E8FF}"/>
              </a:ext>
            </a:extLst>
          </p:cNvPr>
          <p:cNvPicPr>
            <a:picLocks noChangeAspect="1"/>
          </p:cNvPicPr>
          <p:nvPr/>
        </p:nvPicPr>
        <p:blipFill>
          <a:blip r:embed="rId4"/>
          <a:stretch>
            <a:fillRect/>
          </a:stretch>
        </p:blipFill>
        <p:spPr>
          <a:xfrm>
            <a:off x="639129" y="1463491"/>
            <a:ext cx="5228271" cy="2929459"/>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EA17-A19F-F6ED-E241-A2268CBA45D6}"/>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DA69D816-535A-F5EE-E106-BA148A1B2DF6}"/>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a:solidFill>
                <a:schemeClr val="tx1"/>
              </a:solidFill>
              <a:latin typeface="Arial" panose="020B0604020202020204" pitchFamily="34" charset="0"/>
              <a:cs typeface="Arial" panose="020B0604020202020204" pitchFamily="34" charset="0"/>
            </a:endParaRPr>
          </a:p>
          <a:p>
            <a:pPr algn="just"/>
            <a:endParaRPr lang="en-US" sz="1600">
              <a:solidFill>
                <a:schemeClr val="tx1"/>
              </a:solidFill>
              <a:latin typeface="Arial" panose="020B0604020202020204" pitchFamily="34" charset="0"/>
              <a:cs typeface="Arial" panose="020B0604020202020204" pitchFamily="34" charset="0"/>
            </a:endParaRPr>
          </a:p>
          <a:p>
            <a:pPr algn="just"/>
            <a:endParaRPr lang="en-US" sz="160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D79563BA-3258-C655-D121-E2E23B61FDB5}"/>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#1b – Unbalanced MZI</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08B251FE-4B29-D52F-1DB1-9E5BBD8CFF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3FA43D9-CFE1-F872-DD44-E04BB1B18DFD}"/>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06710B9A-16F8-7A75-9BC8-FE3189874FB8}"/>
              </a:ext>
            </a:extLst>
          </p:cNvPr>
          <p:cNvSpPr>
            <a:spLocks noGrp="1"/>
          </p:cNvSpPr>
          <p:nvPr>
            <p:ph type="ftr" sz="quarter" idx="5"/>
          </p:nvPr>
        </p:nvSpPr>
        <p:spPr/>
        <p:txBody>
          <a:bodyPr/>
          <a:lstStyle/>
          <a:p>
            <a:pPr marL="12700">
              <a:spcBef>
                <a:spcPts val="15"/>
              </a:spcBef>
            </a:pPr>
            <a:r>
              <a:rPr lang="en-US" spc="-5"/>
              <a:t>LAB 3.0. CIRCUITS &amp; COMPACT MODELS</a:t>
            </a:r>
            <a:endParaRPr lang="es-ES" spc="-5"/>
          </a:p>
        </p:txBody>
      </p:sp>
      <p:sp>
        <p:nvSpPr>
          <p:cNvPr id="4" name="Marcador de texto 2">
            <a:extLst>
              <a:ext uri="{FF2B5EF4-FFF2-40B4-BE49-F238E27FC236}">
                <a16:creationId xmlns:a16="http://schemas.microsoft.com/office/drawing/2014/main" id="{0E86A2CB-D14B-54A7-9376-DAE1E4FF0284}"/>
              </a:ext>
            </a:extLst>
          </p:cNvPr>
          <p:cNvSpPr txBox="1">
            <a:spLocks/>
          </p:cNvSpPr>
          <p:nvPr/>
        </p:nvSpPr>
        <p:spPr>
          <a:xfrm>
            <a:off x="6629399" y="1556991"/>
            <a:ext cx="5050811" cy="2895600"/>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s-ES" b="1"/>
              <a:t>HINTS</a:t>
            </a:r>
            <a:r>
              <a:rPr lang="en-US" b="1"/>
              <a:t>: </a:t>
            </a:r>
          </a:p>
          <a:p>
            <a:pPr marL="0" indent="0" algn="just">
              <a:buNone/>
            </a:pPr>
            <a:r>
              <a:rPr lang="en-US" err="1"/>
              <a:t>wvl</a:t>
            </a:r>
            <a:r>
              <a:rPr lang="en-US"/>
              <a:t> [1500-1600] step 0.001</a:t>
            </a:r>
          </a:p>
          <a:p>
            <a:pPr algn="just"/>
            <a:r>
              <a:rPr lang="en-US"/>
              <a:t>dL = </a:t>
            </a:r>
            <a:r>
              <a:rPr lang="en-US">
                <a:latin typeface="Arial" panose="020B0604020202020204" pitchFamily="34" charset="0"/>
                <a:cs typeface="Arial" panose="020B0604020202020204" pitchFamily="34" charset="0"/>
                <a:sym typeface="Wingdings" pitchFamily="2" charset="2"/>
              </a:rPr>
              <a:t>100 µm</a:t>
            </a:r>
            <a:endParaRPr lang="en-US"/>
          </a:p>
          <a:p>
            <a:pPr marL="0" indent="0" algn="just">
              <a:buNone/>
            </a:pPr>
            <a:r>
              <a:rPr lang="en-US"/>
              <a:t>Kin = Kout = 0.5 for all </a:t>
            </a:r>
            <a:r>
              <a:rPr lang="en-US" err="1"/>
              <a:t>wvl</a:t>
            </a:r>
            <a:endParaRPr lang="en-US"/>
          </a:p>
          <a:p>
            <a:pPr algn="just"/>
            <a:endParaRPr lang="en-US" sz="2000" b="1" i="1"/>
          </a:p>
          <a:p>
            <a:pPr algn="just"/>
            <a:endParaRPr lang="en-US" sz="2000" kern="0">
              <a:solidFill>
                <a:sysClr val="windowText" lastClr="000000"/>
              </a:solidFill>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50C41089-061E-9B39-3904-6F31AFE073B8}"/>
                  </a:ext>
                </a:extLst>
              </p:cNvPr>
              <p:cNvSpPr txBox="1"/>
              <p:nvPr/>
            </p:nvSpPr>
            <p:spPr>
              <a:xfrm>
                <a:off x="609441" y="4860334"/>
                <a:ext cx="11199971" cy="1694053"/>
              </a:xfrm>
              <a:prstGeom prst="rect">
                <a:avLst/>
              </a:prstGeom>
              <a:solidFill>
                <a:schemeClr val="bg1">
                  <a:lumMod val="95000"/>
                </a:schemeClr>
              </a:solidFill>
              <a:ln w="28575">
                <a:solidFill>
                  <a:srgbClr val="E0700D"/>
                </a:solidFill>
              </a:ln>
            </p:spPr>
            <p:txBody>
              <a:bodyPr wrap="square" rtlCol="0">
                <a:spAutoFit/>
              </a:bodyPr>
              <a:lstStyle/>
              <a:p>
                <a:pPr algn="just"/>
                <a:r>
                  <a:rPr lang="es-ES" sz="1200">
                    <a:latin typeface="Arial" panose="020B0604020202020204" pitchFamily="34" charset="0"/>
                    <a:cs typeface="Arial" panose="020B0604020202020204" pitchFamily="34" charset="0"/>
                  </a:rPr>
                  <a:t>En la gráfica se observa una respuesta periódica en longitud de onda, característica de un interferómetro Mach-Zehnder no balanceado. En este caso, existe una diferencia de longitud entre los brazos del interferómetro (ΔL=100μm), lo que provoca que las ondas acumulen una diferencia de fase dependiente de la longitud de onda a pesar de mantener los acopladores 50:50 (</a:t>
                </a:r>
                <a:r>
                  <a:rPr lang="es-ES" sz="1200" err="1">
                    <a:latin typeface="Arial" panose="020B0604020202020204" pitchFamily="34" charset="0"/>
                    <a:cs typeface="Arial" panose="020B0604020202020204" pitchFamily="34" charset="0"/>
                  </a:rPr>
                  <a:t>kin</a:t>
                </a:r>
                <a:r>
                  <a:rPr lang="es-ES" sz="1200">
                    <a:latin typeface="Arial" panose="020B0604020202020204" pitchFamily="34" charset="0"/>
                    <a:cs typeface="Arial" panose="020B0604020202020204" pitchFamily="34" charset="0"/>
                  </a:rPr>
                  <a:t> = </a:t>
                </a:r>
                <a:r>
                  <a:rPr lang="es-ES" sz="1200" err="1">
                    <a:latin typeface="Arial" panose="020B0604020202020204" pitchFamily="34" charset="0"/>
                    <a:cs typeface="Arial" panose="020B0604020202020204" pitchFamily="34" charset="0"/>
                  </a:rPr>
                  <a:t>kout</a:t>
                </a:r>
                <a:r>
                  <a:rPr lang="es-ES" sz="1200">
                    <a:latin typeface="Arial" panose="020B0604020202020204" pitchFamily="34" charset="0"/>
                    <a:cs typeface="Arial" panose="020B0604020202020204" pitchFamily="34" charset="0"/>
                  </a:rPr>
                  <a:t> =0.5).</a:t>
                </a:r>
              </a:p>
              <a:p>
                <a:pPr algn="just"/>
                <a:r>
                  <a:rPr lang="es-ES" sz="1200">
                    <a:latin typeface="Arial" panose="020B0604020202020204" pitchFamily="34" charset="0"/>
                    <a:cs typeface="Arial" panose="020B0604020202020204" pitchFamily="34" charset="0"/>
                  </a:rPr>
                  <a:t>Debido a la variación de fase, para ciertas longitudes de onda, las señales interfieren constructivamente en una salida y destructivamente en la otra y para otras longitudes de onda ocurre el efecto contrario. Como resultado, la potencia óptica oscila periódicamente entre ambas salidas, generando máximos y mínimos alternados en la transmisión. La periodicidad espectral observada corresponde al FSR del interferómetro, que corresponde a la formula indicada. Un mayor desequilibrio entre brazos produce oscilaciones más rápidas en función de la longitud de onda.</a:t>
                </a:r>
                <a:endParaRPr lang="en-US" sz="1200">
                  <a:latin typeface="Arial" panose="020B0604020202020204" pitchFamily="34" charset="0"/>
                  <a:cs typeface="Arial" panose="020B0604020202020204" pitchFamily="34" charset="0"/>
                </a:endParaRPr>
              </a:p>
              <a:p>
                <a:pPr algn="just"/>
                <a14:m>
                  <m:oMath xmlns:m="http://schemas.openxmlformats.org/officeDocument/2006/math">
                    <m:sSub>
                      <m:sSubPr>
                        <m:ctrlPr>
                          <a:rPr lang="es-ES" sz="1200" b="0" i="1" smtClean="0">
                            <a:latin typeface="Cambria Math" panose="02040503050406030204" pitchFamily="18" charset="0"/>
                            <a:cs typeface="Arial" panose="020B0604020202020204" pitchFamily="34" charset="0"/>
                          </a:rPr>
                        </m:ctrlPr>
                      </m:sSubPr>
                      <m:e>
                        <m:r>
                          <a:rPr lang="es-ES" sz="1200" i="1">
                            <a:latin typeface="Cambria Math" panose="02040503050406030204" pitchFamily="18" charset="0"/>
                            <a:cs typeface="Arial" panose="020B0604020202020204" pitchFamily="34" charset="0"/>
                          </a:rPr>
                          <m:t>ʎ</m:t>
                        </m:r>
                      </m:e>
                      <m:sub>
                        <m:r>
                          <a:rPr lang="es-ES" sz="1200" b="0" i="1" smtClean="0">
                            <a:latin typeface="Cambria Math" panose="02040503050406030204" pitchFamily="18" charset="0"/>
                            <a:cs typeface="Arial" panose="020B0604020202020204" pitchFamily="34" charset="0"/>
                          </a:rPr>
                          <m:t>𝐹𝑆𝑅</m:t>
                        </m:r>
                      </m:sub>
                    </m:sSub>
                    <m:r>
                      <a:rPr lang="pt-BR" sz="1200" i="1" smtClean="0">
                        <a:latin typeface="Cambria Math" panose="02040503050406030204" pitchFamily="18" charset="0"/>
                        <a:cs typeface="Arial" panose="020B0604020202020204" pitchFamily="34" charset="0"/>
                      </a:rPr>
                      <m:t>=</m:t>
                    </m:r>
                    <m:f>
                      <m:fPr>
                        <m:ctrlPr>
                          <a:rPr lang="pt-BR" sz="1200" i="1" smtClean="0">
                            <a:latin typeface="Cambria Math" panose="02040503050406030204" pitchFamily="18" charset="0"/>
                            <a:cs typeface="Arial" panose="020B0604020202020204" pitchFamily="34" charset="0"/>
                          </a:rPr>
                        </m:ctrlPr>
                      </m:fPr>
                      <m:num>
                        <m:sSup>
                          <m:sSupPr>
                            <m:ctrlPr>
                              <a:rPr lang="pt-BR" sz="1200" i="1" smtClean="0">
                                <a:latin typeface="Cambria Math" panose="02040503050406030204" pitchFamily="18" charset="0"/>
                                <a:cs typeface="Arial" panose="020B0604020202020204" pitchFamily="34" charset="0"/>
                              </a:rPr>
                            </m:ctrlPr>
                          </m:sSupPr>
                          <m:e>
                            <m:r>
                              <a:rPr lang="es-ES" sz="1200" i="1">
                                <a:latin typeface="Cambria Math" panose="02040503050406030204" pitchFamily="18" charset="0"/>
                                <a:cs typeface="Arial" panose="020B0604020202020204" pitchFamily="34" charset="0"/>
                              </a:rPr>
                              <m:t>ʎ</m:t>
                            </m:r>
                          </m:e>
                          <m:sup>
                            <m:r>
                              <a:rPr lang="es-ES" sz="1200" b="0" i="1" smtClean="0">
                                <a:latin typeface="Cambria Math" panose="02040503050406030204" pitchFamily="18" charset="0"/>
                                <a:cs typeface="Arial" panose="020B0604020202020204" pitchFamily="34" charset="0"/>
                              </a:rPr>
                              <m:t>2</m:t>
                            </m:r>
                          </m:sup>
                        </m:sSup>
                      </m:num>
                      <m:den>
                        <m:r>
                          <a:rPr lang="es-ES" sz="1200" b="0" i="1" smtClean="0">
                            <a:latin typeface="Cambria Math" panose="02040503050406030204" pitchFamily="18" charset="0"/>
                            <a:cs typeface="Arial" panose="020B0604020202020204" pitchFamily="34" charset="0"/>
                          </a:rPr>
                          <m:t>𝑛𝑔</m:t>
                        </m:r>
                        <m:r>
                          <a:rPr lang="es-ES" sz="1200" b="0" i="1" smtClean="0">
                            <a:latin typeface="Cambria Math" panose="02040503050406030204" pitchFamily="18" charset="0"/>
                            <a:cs typeface="Arial" panose="020B0604020202020204" pitchFamily="34" charset="0"/>
                          </a:rPr>
                          <m:t>∗∆</m:t>
                        </m:r>
                        <m:r>
                          <a:rPr lang="es-ES" sz="1200" b="0" i="1" smtClean="0">
                            <a:latin typeface="Cambria Math" panose="02040503050406030204" pitchFamily="18" charset="0"/>
                            <a:ea typeface="Cambria Math" panose="02040503050406030204" pitchFamily="18" charset="0"/>
                            <a:cs typeface="Arial" panose="020B0604020202020204" pitchFamily="34" charset="0"/>
                          </a:rPr>
                          <m:t>𝐿</m:t>
                        </m:r>
                      </m:den>
                    </m:f>
                  </m:oMath>
                </a14:m>
                <a:r>
                  <a:rPr lang="es-ES" sz="1200">
                    <a:latin typeface="Arial" panose="020B0604020202020204" pitchFamily="34" charset="0"/>
                    <a:cs typeface="Arial" panose="020B0604020202020204" pitchFamily="34" charset="0"/>
                  </a:rPr>
                  <a:t> = 1,55/(2*100) = 12 nm aproximadamente</a:t>
                </a:r>
                <a:endParaRPr lang="en-US" sz="120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50C41089-061E-9B39-3904-6F31AFE073B8}"/>
                  </a:ext>
                </a:extLst>
              </p:cNvPr>
              <p:cNvSpPr txBox="1">
                <a:spLocks noRot="1" noChangeAspect="1" noMove="1" noResize="1" noEditPoints="1" noAdjustHandles="1" noChangeArrowheads="1" noChangeShapeType="1" noTextEdit="1"/>
              </p:cNvSpPr>
              <p:nvPr/>
            </p:nvSpPr>
            <p:spPr>
              <a:xfrm>
                <a:off x="609441" y="4860334"/>
                <a:ext cx="11199971" cy="1694053"/>
              </a:xfrm>
              <a:prstGeom prst="rect">
                <a:avLst/>
              </a:prstGeom>
              <a:blipFill>
                <a:blip r:embed="rId4"/>
                <a:stretch>
                  <a:fillRect/>
                </a:stretch>
              </a:blipFill>
              <a:ln w="28575">
                <a:solidFill>
                  <a:srgbClr val="E0700D"/>
                </a:solidFill>
              </a:ln>
            </p:spPr>
            <p:txBody>
              <a:bodyPr/>
              <a:lstStyle/>
              <a:p>
                <a:r>
                  <a:rPr lang="en-US">
                    <a:noFill/>
                  </a:rPr>
                  <a:t> </a:t>
                </a:r>
              </a:p>
            </p:txBody>
          </p:sp>
        </mc:Fallback>
      </mc:AlternateContent>
      <p:sp>
        <p:nvSpPr>
          <p:cNvPr id="6" name="Rectángulo 5">
            <a:extLst>
              <a:ext uri="{FF2B5EF4-FFF2-40B4-BE49-F238E27FC236}">
                <a16:creationId xmlns:a16="http://schemas.microsoft.com/office/drawing/2014/main" id="{F95B976F-6522-EA3D-1323-5C97E9F88EDF}"/>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8934523B-51D9-2926-EAC0-7EAD4D1D5B75}"/>
              </a:ext>
            </a:extLst>
          </p:cNvPr>
          <p:cNvSpPr txBox="1"/>
          <p:nvPr/>
        </p:nvSpPr>
        <p:spPr>
          <a:xfrm>
            <a:off x="1690195" y="2494306"/>
            <a:ext cx="3171061" cy="1154162"/>
          </a:xfrm>
          <a:prstGeom prst="rect">
            <a:avLst/>
          </a:prstGeom>
          <a:noFill/>
        </p:spPr>
        <p:txBody>
          <a:bodyPr wrap="none" rtlCol="0">
            <a:spAutoFit/>
          </a:bodyPr>
          <a:lstStyle/>
          <a:p>
            <a:pPr algn="ctr"/>
            <a:r>
              <a:rPr lang="es-ES"/>
              <a:t>MZI transfer </a:t>
            </a:r>
            <a:r>
              <a:rPr lang="es-ES" err="1"/>
              <a:t>functions</a:t>
            </a:r>
            <a:endParaRPr lang="en-US"/>
          </a:p>
          <a:p>
            <a:pPr algn="ctr"/>
            <a:endParaRPr lang="en-US"/>
          </a:p>
          <a:p>
            <a:pPr algn="ctr"/>
            <a:r>
              <a:rPr lang="en-US"/>
              <a:t>Paste plot here</a:t>
            </a:r>
          </a:p>
        </p:txBody>
      </p:sp>
      <p:pic>
        <p:nvPicPr>
          <p:cNvPr id="9" name="Imagen 8">
            <a:extLst>
              <a:ext uri="{FF2B5EF4-FFF2-40B4-BE49-F238E27FC236}">
                <a16:creationId xmlns:a16="http://schemas.microsoft.com/office/drawing/2014/main" id="{47805696-C49F-4568-0AF7-B4C92899E57A}"/>
              </a:ext>
            </a:extLst>
          </p:cNvPr>
          <p:cNvPicPr>
            <a:picLocks noChangeAspect="1"/>
          </p:cNvPicPr>
          <p:nvPr/>
        </p:nvPicPr>
        <p:blipFill>
          <a:blip r:embed="rId5"/>
          <a:stretch>
            <a:fillRect/>
          </a:stretch>
        </p:blipFill>
        <p:spPr>
          <a:xfrm>
            <a:off x="631479" y="1556991"/>
            <a:ext cx="5288492" cy="2895600"/>
          </a:xfrm>
          <a:prstGeom prst="rect">
            <a:avLst/>
          </a:prstGeom>
        </p:spPr>
      </p:pic>
    </p:spTree>
    <p:extLst>
      <p:ext uri="{BB962C8B-B14F-4D97-AF65-F5344CB8AC3E}">
        <p14:creationId xmlns:p14="http://schemas.microsoft.com/office/powerpoint/2010/main" val="2395180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5</a:t>
            </a:fld>
            <a:endParaRPr lang="en-US"/>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D9601617-351E-AE1A-1F4D-693F2EA59361}"/>
                  </a:ext>
                </a:extLst>
              </p:cNvPr>
              <p:cNvSpPr txBox="1"/>
              <p:nvPr/>
            </p:nvSpPr>
            <p:spPr>
              <a:xfrm>
                <a:off x="609600" y="4788654"/>
                <a:ext cx="11199530" cy="1754326"/>
              </a:xfrm>
              <a:prstGeom prst="rect">
                <a:avLst/>
              </a:prstGeom>
              <a:solidFill>
                <a:schemeClr val="bg1">
                  <a:lumMod val="95000"/>
                </a:schemeClr>
              </a:solidFill>
              <a:ln w="28575">
                <a:solidFill>
                  <a:srgbClr val="E0700D"/>
                </a:solidFill>
              </a:ln>
            </p:spPr>
            <p:txBody>
              <a:bodyPr wrap="square" rtlCol="0">
                <a:spAutoFit/>
              </a:bodyPr>
              <a:lstStyle/>
              <a:p>
                <a:pPr algn="just"/>
                <a:r>
                  <a:rPr lang="es-ES" sz="1200">
                    <a:latin typeface="Arial" panose="020B0604020202020204" pitchFamily="34" charset="0"/>
                    <a:cs typeface="Arial" panose="020B0604020202020204" pitchFamily="34" charset="0"/>
                  </a:rPr>
                  <a:t>El Rango Espectral Libre (FSR) es la distancia entre dos picos consecutivos . Según la formula mostrada, el FSR y la longitud física </a:t>
                </a:r>
                <a14:m>
                  <m:oMath xmlns:m="http://schemas.openxmlformats.org/officeDocument/2006/math">
                    <m:r>
                      <a:rPr lang="es-ES" sz="1200" i="1">
                        <a:latin typeface="Cambria Math" panose="02040503050406030204" pitchFamily="18" charset="0"/>
                        <a:cs typeface="Arial" panose="020B0604020202020204" pitchFamily="34" charset="0"/>
                      </a:rPr>
                      <m:t>∆ </m:t>
                    </m:r>
                    <m:r>
                      <a:rPr lang="es-ES" sz="1200" i="1">
                        <a:latin typeface="Cambria Math" panose="02040503050406030204" pitchFamily="18" charset="0"/>
                        <a:cs typeface="Arial" panose="020B0604020202020204" pitchFamily="34" charset="0"/>
                      </a:rPr>
                      <m:t>𝐿</m:t>
                    </m:r>
                    <m:r>
                      <a:rPr lang="es-ES" sz="1200" i="1">
                        <a:latin typeface="Cambria Math" panose="02040503050406030204" pitchFamily="18" charset="0"/>
                        <a:cs typeface="Arial" panose="020B0604020202020204" pitchFamily="34" charset="0"/>
                      </a:rPr>
                      <m:t>  </m:t>
                    </m:r>
                  </m:oMath>
                </a14:m>
                <a:r>
                  <a:rPr lang="es-ES" sz="1200">
                    <a:latin typeface="Arial" panose="020B0604020202020204" pitchFamily="34" charset="0"/>
                    <a:cs typeface="Arial" panose="020B0604020202020204" pitchFamily="34" charset="0"/>
                  </a:rPr>
                  <a:t>son inversamente proporcionales . Si uno aumenta, el otro disminuye. Con el fin de cumplir la condición de FSR = 2nm, se ha calculado que la diferencia entre los brazos debe ser de 600,625 </a:t>
                </a:r>
                <a:r>
                  <a:rPr lang="es-ES" sz="1200" err="1">
                    <a:latin typeface="Arial" panose="020B0604020202020204" pitchFamily="34" charset="0"/>
                    <a:cs typeface="Arial" panose="020B0604020202020204" pitchFamily="34" charset="0"/>
                  </a:rPr>
                  <a:t>um</a:t>
                </a:r>
                <a:r>
                  <a:rPr lang="es-ES" sz="1200">
                    <a:latin typeface="Arial" panose="020B0604020202020204" pitchFamily="34" charset="0"/>
                    <a:cs typeface="Arial" panose="020B0604020202020204" pitchFamily="34" charset="0"/>
                  </a:rPr>
                  <a:t>. </a:t>
                </a:r>
              </a:p>
              <a:p>
                <a:pPr algn="just"/>
                <a:endParaRPr lang="es-ES" sz="120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En la primera gráfica se observa cómo la señal oscila rápidamente entre valores máximos y mínimos, debido a que la separación entre resonancias (FSR) es de aproximadamente 2 nm. Como consecuencia, las variaciones espectrales ocurren en un intervalo muy reducido, lo que hace que la representación aparezca densa.</a:t>
                </a:r>
              </a:p>
              <a:p>
                <a:pPr algn="just"/>
                <a:r>
                  <a:rPr lang="es-ES" sz="1200">
                    <a:latin typeface="Arial" panose="020B0604020202020204" pitchFamily="34" charset="0"/>
                    <a:cs typeface="Arial" panose="020B0604020202020204" pitchFamily="34" charset="0"/>
                  </a:rPr>
                  <a:t>La gráfica inferior muestra exactamente lo mismo pero en escala logarítmica (dB). Las caídas tan abruptas (por debajo de -50 dB) simplemente representan esos momentos de interferencia destructiva, indicando que la luz se está cancelando casi de forma perfecta .</a:t>
                </a:r>
                <a:endParaRPr lang="en-US" sz="1200">
                  <a:latin typeface="Arial" panose="020B0604020202020204" pitchFamily="34" charset="0"/>
                  <a:cs typeface="Arial" panose="020B0604020202020204" pitchFamily="34" charset="0"/>
                </a:endParaRPr>
              </a:p>
            </p:txBody>
          </p:sp>
        </mc:Choice>
        <mc:Fallback xmlns="">
          <p:sp>
            <p:nvSpPr>
              <p:cNvPr id="8" name="CuadroTexto 7">
                <a:extLst>
                  <a:ext uri="{FF2B5EF4-FFF2-40B4-BE49-F238E27FC236}">
                    <a16:creationId xmlns:a16="http://schemas.microsoft.com/office/drawing/2014/main" id="{D9601617-351E-AE1A-1F4D-693F2EA59361}"/>
                  </a:ext>
                </a:extLst>
              </p:cNvPr>
              <p:cNvSpPr txBox="1">
                <a:spLocks noRot="1" noChangeAspect="1" noMove="1" noResize="1" noEditPoints="1" noAdjustHandles="1" noChangeArrowheads="1" noChangeShapeType="1" noTextEdit="1"/>
              </p:cNvSpPr>
              <p:nvPr/>
            </p:nvSpPr>
            <p:spPr>
              <a:xfrm>
                <a:off x="609600" y="4788654"/>
                <a:ext cx="11199530" cy="1754326"/>
              </a:xfrm>
              <a:prstGeom prst="rect">
                <a:avLst/>
              </a:prstGeom>
              <a:blipFill>
                <a:blip r:embed="rId2"/>
                <a:stretch>
                  <a:fillRect b="-685"/>
                </a:stretch>
              </a:blipFill>
              <a:ln w="28575">
                <a:solidFill>
                  <a:srgbClr val="E0700D"/>
                </a:solidFill>
              </a:ln>
            </p:spPr>
            <p:txBody>
              <a:bodyPr/>
              <a:lstStyle/>
              <a:p>
                <a:r>
                  <a:rPr lang="en-US">
                    <a:noFill/>
                  </a:rPr>
                  <a:t> </a:t>
                </a:r>
              </a:p>
            </p:txBody>
          </p:sp>
        </mc:Fallback>
      </mc:AlternateContent>
      <p:sp>
        <p:nvSpPr>
          <p:cNvPr id="11" name="Rectángulo 10">
            <a:extLst>
              <a:ext uri="{FF2B5EF4-FFF2-40B4-BE49-F238E27FC236}">
                <a16:creationId xmlns:a16="http://schemas.microsoft.com/office/drawing/2014/main" id="{B811A5F9-C0B5-716C-70FB-9472E1BC2CD3}"/>
              </a:ext>
            </a:extLst>
          </p:cNvPr>
          <p:cNvSpPr/>
          <p:nvPr/>
        </p:nvSpPr>
        <p:spPr>
          <a:xfrm>
            <a:off x="683601" y="1442563"/>
            <a:ext cx="3435049" cy="334231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1D17C364-5A66-F740-B152-8B41A2A4EF26}"/>
              </a:ext>
            </a:extLst>
          </p:cNvPr>
          <p:cNvSpPr txBox="1"/>
          <p:nvPr/>
        </p:nvSpPr>
        <p:spPr>
          <a:xfrm>
            <a:off x="5305711" y="2494307"/>
            <a:ext cx="2494977" cy="1015663"/>
          </a:xfrm>
          <a:prstGeom prst="rect">
            <a:avLst/>
          </a:prstGeom>
          <a:noFill/>
        </p:spPr>
        <p:txBody>
          <a:bodyPr wrap="none" rtlCol="0">
            <a:spAutoFit/>
          </a:bodyPr>
          <a:lstStyle/>
          <a:p>
            <a:pPr algn="ctr"/>
            <a:r>
              <a:rPr lang="es-ES" sz="2000"/>
              <a:t>MZI transfer </a:t>
            </a:r>
            <a:r>
              <a:rPr lang="es-ES" sz="2000" err="1"/>
              <a:t>functions</a:t>
            </a:r>
            <a:endParaRPr lang="en-US" sz="2000"/>
          </a:p>
          <a:p>
            <a:pPr algn="ctr"/>
            <a:endParaRPr lang="en-US" sz="2000"/>
          </a:p>
          <a:p>
            <a:pPr algn="ctr"/>
            <a:r>
              <a:rPr lang="en-US" sz="2000"/>
              <a:t>Paste plot here</a:t>
            </a:r>
          </a:p>
        </p:txBody>
      </p:sp>
      <p:sp>
        <p:nvSpPr>
          <p:cNvPr id="3" name="Rectángulo 2">
            <a:extLst>
              <a:ext uri="{FF2B5EF4-FFF2-40B4-BE49-F238E27FC236}">
                <a16:creationId xmlns:a16="http://schemas.microsoft.com/office/drawing/2014/main" id="{5FB43DF1-4048-35BF-BD58-4BF2A341D2EF}"/>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b="1">
                <a:solidFill>
                  <a:schemeClr val="tx1"/>
                </a:solidFill>
                <a:latin typeface="Arial" panose="020B0604020202020204" pitchFamily="34" charset="0"/>
                <a:cs typeface="Arial" panose="020B0604020202020204" pitchFamily="34" charset="0"/>
              </a:rPr>
              <a:t>Hints:</a:t>
            </a:r>
            <a:endParaRPr lang="en-US">
              <a:solidFill>
                <a:schemeClr val="tx1"/>
              </a:solidFill>
              <a:latin typeface="Arial" panose="020B0604020202020204" pitchFamily="34" charset="0"/>
              <a:cs typeface="Arial" panose="020B0604020202020204" pitchFamily="34" charset="0"/>
            </a:endParaRPr>
          </a:p>
          <a:p>
            <a:pPr algn="just"/>
            <a:r>
              <a:rPr lang="en-US" err="1">
                <a:solidFill>
                  <a:schemeClr val="tx1"/>
                </a:solidFill>
                <a:latin typeface="Arial" panose="020B0604020202020204" pitchFamily="34" charset="0"/>
                <a:cs typeface="Arial" panose="020B0604020202020204" pitchFamily="34" charset="0"/>
                <a:sym typeface="Wingdings" pitchFamily="2" charset="2"/>
              </a:rPr>
              <a:t>wvl</a:t>
            </a:r>
            <a:r>
              <a:rPr lang="en-US">
                <a:solidFill>
                  <a:schemeClr val="tx1"/>
                </a:solidFill>
                <a:latin typeface="Arial" panose="020B0604020202020204" pitchFamily="34" charset="0"/>
                <a:cs typeface="Arial" panose="020B0604020202020204" pitchFamily="34" charset="0"/>
                <a:sym typeface="Wingdings" pitchFamily="2" charset="2"/>
              </a:rPr>
              <a:t> [1500-1600] step 0.001</a:t>
            </a:r>
          </a:p>
          <a:p>
            <a:pPr algn="just"/>
            <a:r>
              <a:rPr lang="en-US">
                <a:solidFill>
                  <a:schemeClr val="tx1"/>
                </a:solidFill>
                <a:latin typeface="Arial" panose="020B0604020202020204" pitchFamily="34" charset="0"/>
                <a:cs typeface="Arial" panose="020B0604020202020204" pitchFamily="34" charset="0"/>
                <a:sym typeface="Wingdings" pitchFamily="2" charset="2"/>
              </a:rPr>
              <a:t>dL = ? µm </a:t>
            </a:r>
            <a:r>
              <a:rPr lang="en-US" b="1">
                <a:solidFill>
                  <a:schemeClr val="tx1"/>
                </a:solidFill>
                <a:latin typeface="Arial" panose="020B0604020202020204" pitchFamily="34" charset="0"/>
                <a:cs typeface="Arial" panose="020B0604020202020204" pitchFamily="34" charset="0"/>
                <a:sym typeface="Wingdings" pitchFamily="2" charset="2"/>
              </a:rPr>
              <a:t>calculate for FSR = 2 nm </a:t>
            </a:r>
          </a:p>
          <a:p>
            <a:pPr algn="just"/>
            <a:r>
              <a:rPr lang="en-US">
                <a:solidFill>
                  <a:schemeClr val="tx1"/>
                </a:solidFill>
                <a:latin typeface="Arial" panose="020B0604020202020204" pitchFamily="34" charset="0"/>
                <a:cs typeface="Arial" panose="020B0604020202020204" pitchFamily="34" charset="0"/>
                <a:sym typeface="Wingdings" pitchFamily="2" charset="2"/>
              </a:rPr>
              <a:t>Ka = </a:t>
            </a:r>
            <a:r>
              <a:rPr lang="en-US" err="1">
                <a:solidFill>
                  <a:schemeClr val="tx1"/>
                </a:solidFill>
                <a:latin typeface="Arial" panose="020B0604020202020204" pitchFamily="34" charset="0"/>
                <a:cs typeface="Arial" panose="020B0604020202020204" pitchFamily="34" charset="0"/>
                <a:sym typeface="Wingdings" pitchFamily="2" charset="2"/>
              </a:rPr>
              <a:t>Kb</a:t>
            </a:r>
            <a:r>
              <a:rPr lang="en-US">
                <a:solidFill>
                  <a:schemeClr val="tx1"/>
                </a:solidFill>
                <a:latin typeface="Arial" panose="020B0604020202020204" pitchFamily="34" charset="0"/>
                <a:cs typeface="Arial" panose="020B0604020202020204" pitchFamily="34" charset="0"/>
                <a:sym typeface="Wingdings" pitchFamily="2" charset="2"/>
              </a:rPr>
              <a:t> = 0.5 for all </a:t>
            </a:r>
            <a:r>
              <a:rPr lang="en-US" err="1">
                <a:solidFill>
                  <a:schemeClr val="tx1"/>
                </a:solidFill>
                <a:latin typeface="Arial" panose="020B0604020202020204" pitchFamily="34" charset="0"/>
                <a:cs typeface="Arial" panose="020B0604020202020204" pitchFamily="34" charset="0"/>
                <a:sym typeface="Wingdings" pitchFamily="2" charset="2"/>
              </a:rPr>
              <a:t>wvl</a:t>
            </a:r>
            <a:endParaRPr lang="en-US">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200">
              <a:solidFill>
                <a:schemeClr val="tx1"/>
              </a:solidFill>
              <a:latin typeface="Arial" panose="020B0604020202020204" pitchFamily="34" charset="0"/>
              <a:cs typeface="Arial" panose="020B0604020202020204" pitchFamily="34" charset="0"/>
            </a:endParaRPr>
          </a:p>
          <a:p>
            <a:pPr algn="just"/>
            <a:endParaRPr lang="en-US" sz="1200">
              <a:solidFill>
                <a:schemeClr val="tx1"/>
              </a:solidFill>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4116011" y="1442563"/>
            <a:ext cx="4499427" cy="334231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54CF28B4-1346-F41D-2CD8-EA104ABBFB98}"/>
                  </a:ext>
                </a:extLst>
              </p:cNvPr>
              <p:cNvSpPr txBox="1"/>
              <p:nvPr/>
            </p:nvSpPr>
            <p:spPr>
              <a:xfrm>
                <a:off x="1550847" y="1561514"/>
                <a:ext cx="1964256" cy="763863"/>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s-ES" sz="2000" i="1" smtClean="0">
                          <a:latin typeface="Cambria Math" panose="02040503050406030204" pitchFamily="18" charset="0"/>
                          <a:cs typeface="Arial" panose="020B0604020202020204" pitchFamily="34" charset="0"/>
                        </a:rPr>
                        <m:t>∆ </m:t>
                      </m:r>
                      <m:r>
                        <a:rPr lang="es-ES" sz="2000" b="0" i="1" smtClean="0">
                          <a:latin typeface="Cambria Math" panose="02040503050406030204" pitchFamily="18" charset="0"/>
                          <a:cs typeface="Arial" panose="020B0604020202020204" pitchFamily="34" charset="0"/>
                        </a:rPr>
                        <m:t>𝐿</m:t>
                      </m:r>
                      <m:r>
                        <a:rPr lang="pt-BR" sz="2000" i="1">
                          <a:latin typeface="Cambria Math" panose="02040503050406030204" pitchFamily="18" charset="0"/>
                          <a:cs typeface="Arial" panose="020B0604020202020204" pitchFamily="34" charset="0"/>
                        </a:rPr>
                        <m:t>=</m:t>
                      </m:r>
                      <m:f>
                        <m:fPr>
                          <m:ctrlPr>
                            <a:rPr lang="pt-BR" sz="2000" i="1">
                              <a:latin typeface="Cambria Math" panose="02040503050406030204" pitchFamily="18" charset="0"/>
                              <a:cs typeface="Arial" panose="020B0604020202020204" pitchFamily="34" charset="0"/>
                            </a:rPr>
                          </m:ctrlPr>
                        </m:fPr>
                        <m:num>
                          <m:sSup>
                            <m:sSupPr>
                              <m:ctrlPr>
                                <a:rPr lang="pt-BR" sz="2000" i="1">
                                  <a:latin typeface="Cambria Math" panose="02040503050406030204" pitchFamily="18" charset="0"/>
                                  <a:cs typeface="Arial" panose="020B0604020202020204" pitchFamily="34" charset="0"/>
                                </a:rPr>
                              </m:ctrlPr>
                            </m:sSupPr>
                            <m:e>
                              <m:r>
                                <a:rPr lang="es-ES" sz="2000" i="1">
                                  <a:latin typeface="Cambria Math" panose="02040503050406030204" pitchFamily="18" charset="0"/>
                                  <a:cs typeface="Arial" panose="020B0604020202020204" pitchFamily="34" charset="0"/>
                                </a:rPr>
                                <m:t>ʎ</m:t>
                              </m:r>
                            </m:e>
                            <m:sup>
                              <m:r>
                                <a:rPr lang="es-ES" sz="2000" i="1">
                                  <a:latin typeface="Cambria Math" panose="02040503050406030204" pitchFamily="18" charset="0"/>
                                  <a:cs typeface="Arial" panose="020B0604020202020204" pitchFamily="34" charset="0"/>
                                </a:rPr>
                                <m:t>2</m:t>
                              </m:r>
                            </m:sup>
                          </m:sSup>
                        </m:num>
                        <m:den>
                          <m:r>
                            <a:rPr lang="es-ES" sz="2000" i="1">
                              <a:latin typeface="Cambria Math" panose="02040503050406030204" pitchFamily="18" charset="0"/>
                              <a:cs typeface="Arial" panose="020B0604020202020204" pitchFamily="34" charset="0"/>
                            </a:rPr>
                            <m:t>𝑛𝑔</m:t>
                          </m:r>
                          <m:r>
                            <a:rPr lang="es-ES" sz="2000" i="1">
                              <a:latin typeface="Cambria Math" panose="02040503050406030204" pitchFamily="18" charset="0"/>
                              <a:cs typeface="Arial" panose="020B0604020202020204" pitchFamily="34" charset="0"/>
                            </a:rPr>
                            <m:t>∗</m:t>
                          </m:r>
                          <m:sSub>
                            <m:sSubPr>
                              <m:ctrlPr>
                                <a:rPr lang="es-ES" sz="2000" i="1">
                                  <a:latin typeface="Cambria Math" panose="02040503050406030204" pitchFamily="18" charset="0"/>
                                  <a:cs typeface="Arial" panose="020B0604020202020204" pitchFamily="34" charset="0"/>
                                </a:rPr>
                              </m:ctrlPr>
                            </m:sSubPr>
                            <m:e>
                              <m:r>
                                <a:rPr lang="es-ES" sz="2000" i="1">
                                  <a:latin typeface="Cambria Math" panose="02040503050406030204" pitchFamily="18" charset="0"/>
                                  <a:cs typeface="Arial" panose="020B0604020202020204" pitchFamily="34" charset="0"/>
                                </a:rPr>
                                <m:t>ʎ</m:t>
                              </m:r>
                            </m:e>
                            <m:sub>
                              <m:r>
                                <a:rPr lang="es-ES" sz="2000" i="1">
                                  <a:latin typeface="Cambria Math" panose="02040503050406030204" pitchFamily="18" charset="0"/>
                                  <a:cs typeface="Arial" panose="020B0604020202020204" pitchFamily="34" charset="0"/>
                                </a:rPr>
                                <m:t>𝐹𝑆𝑅</m:t>
                              </m:r>
                            </m:sub>
                          </m:sSub>
                        </m:den>
                      </m:f>
                    </m:oMath>
                  </m:oMathPara>
                </a14:m>
                <a:endParaRPr lang="en-US" sz="2000"/>
              </a:p>
            </p:txBody>
          </p:sp>
        </mc:Choice>
        <mc:Fallback xmlns="">
          <p:sp>
            <p:nvSpPr>
              <p:cNvPr id="15" name="CuadroTexto 14">
                <a:extLst>
                  <a:ext uri="{FF2B5EF4-FFF2-40B4-BE49-F238E27FC236}">
                    <a16:creationId xmlns:a16="http://schemas.microsoft.com/office/drawing/2014/main" id="{54CF28B4-1346-F41D-2CD8-EA104ABBFB98}"/>
                  </a:ext>
                </a:extLst>
              </p:cNvPr>
              <p:cNvSpPr txBox="1">
                <a:spLocks noRot="1" noChangeAspect="1" noMove="1" noResize="1" noEditPoints="1" noAdjustHandles="1" noChangeArrowheads="1" noChangeShapeType="1" noTextEdit="1"/>
              </p:cNvSpPr>
              <p:nvPr/>
            </p:nvSpPr>
            <p:spPr>
              <a:xfrm>
                <a:off x="1550847" y="1561514"/>
                <a:ext cx="1964256" cy="763863"/>
              </a:xfrm>
              <a:prstGeom prst="rect">
                <a:avLst/>
              </a:prstGeom>
              <a:blipFill>
                <a:blip r:embed="rId3"/>
                <a:stretch>
                  <a:fillRect/>
                </a:stretch>
              </a:blipFill>
            </p:spPr>
            <p:txBody>
              <a:bodyPr/>
              <a:lstStyle/>
              <a:p>
                <a:r>
                  <a:rPr lang="en-US">
                    <a:noFill/>
                  </a:rPr>
                  <a:t> </a:t>
                </a:r>
              </a:p>
            </p:txBody>
          </p:sp>
        </mc:Fallback>
      </mc:AlternateContent>
      <p:pic>
        <p:nvPicPr>
          <p:cNvPr id="10" name="Gráfico 9">
            <a:extLst>
              <a:ext uri="{FF2B5EF4-FFF2-40B4-BE49-F238E27FC236}">
                <a16:creationId xmlns:a16="http://schemas.microsoft.com/office/drawing/2014/main" id="{C582D9ED-A2CE-6C08-D473-4C1FC636E81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98DA9316-CFD5-58C0-735F-237403D53172}"/>
              </a:ext>
            </a:extLst>
          </p:cNvPr>
          <p:cNvSpPr txBox="1">
            <a:spLocks/>
          </p:cNvSpPr>
          <p:nvPr/>
        </p:nvSpPr>
        <p:spPr>
          <a:xfrm>
            <a:off x="685800" y="408883"/>
            <a:ext cx="10994410" cy="1025922"/>
          </a:xfrm>
          <a:prstGeom prst="rect">
            <a:avLst/>
          </a:prstGeom>
        </p:spPr>
        <p:txBody>
          <a:bodyPr vert="horz" wrap="square" lIns="0" tIns="12700" rIns="0" bIns="0" rtlCol="0" anchor="t">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#2 – MZI Design</a:t>
            </a:r>
          </a:p>
          <a:p>
            <a:pPr marL="12700">
              <a:spcBef>
                <a:spcPts val="100"/>
              </a:spcBef>
            </a:pPr>
            <a:r>
              <a:rPr lang="en-US" b="0" kern="0" spc="-5">
                <a:latin typeface="+mj-lt"/>
                <a:cs typeface="Lucida Sans"/>
              </a:rPr>
              <a:t>Design a MZI with FSR = 2 nm at 1550 nm</a:t>
            </a:r>
            <a:br>
              <a:rPr lang="en-US" b="0" kern="0" spc="-5">
                <a:latin typeface="+mj-lt"/>
                <a:cs typeface="Lucida Sans"/>
              </a:rPr>
            </a:br>
            <a:endParaRPr lang="en-US" b="0" kern="0">
              <a:latin typeface="+mj-lt"/>
              <a:cs typeface="Lucida Sans"/>
            </a:endParaRPr>
          </a:p>
        </p:txBody>
      </p:sp>
      <p:pic>
        <p:nvPicPr>
          <p:cNvPr id="4" name="Imagen 3">
            <a:extLst>
              <a:ext uri="{FF2B5EF4-FFF2-40B4-BE49-F238E27FC236}">
                <a16:creationId xmlns:a16="http://schemas.microsoft.com/office/drawing/2014/main" id="{D1B932B8-E9F3-874D-9325-5D55A3FF2380}"/>
              </a:ext>
            </a:extLst>
          </p:cNvPr>
          <p:cNvPicPr>
            <a:picLocks noChangeAspect="1"/>
          </p:cNvPicPr>
          <p:nvPr/>
        </p:nvPicPr>
        <p:blipFill>
          <a:blip r:embed="rId5"/>
          <a:stretch>
            <a:fillRect/>
          </a:stretch>
        </p:blipFill>
        <p:spPr>
          <a:xfrm>
            <a:off x="4228874" y="1718840"/>
            <a:ext cx="4277706" cy="2396065"/>
          </a:xfrm>
          <a:prstGeom prst="rect">
            <a:avLst/>
          </a:prstGeom>
        </p:spPr>
      </p:pic>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FD5E774F-1F3E-77B3-0A85-B71250E220E9}"/>
                  </a:ext>
                </a:extLst>
              </p:cNvPr>
              <p:cNvSpPr txBox="1"/>
              <p:nvPr/>
            </p:nvSpPr>
            <p:spPr>
              <a:xfrm>
                <a:off x="762000" y="2819400"/>
                <a:ext cx="3260829" cy="369332"/>
              </a:xfrm>
              <a:prstGeom prst="rect">
                <a:avLst/>
              </a:prstGeom>
              <a:noFill/>
            </p:spPr>
            <p:txBody>
              <a:bodyPr wrap="none" rtlCol="0">
                <a:spAutoFit/>
              </a:bodyPr>
              <a:lstStyle/>
              <a:p>
                <a14:m>
                  <m:oMath xmlns:m="http://schemas.openxmlformats.org/officeDocument/2006/math">
                    <m:r>
                      <a:rPr lang="es-ES" i="1">
                        <a:latin typeface="Cambria Math" panose="02040503050406030204" pitchFamily="18" charset="0"/>
                        <a:cs typeface="Arial" panose="020B0604020202020204" pitchFamily="34" charset="0"/>
                      </a:rPr>
                      <m:t>∆ </m:t>
                    </m:r>
                  </m:oMath>
                </a14:m>
                <a:r>
                  <a:rPr lang="es-ES"/>
                  <a:t>L = 1550^2/(2*2)= 600,625 </a:t>
                </a:r>
                <a:r>
                  <a:rPr lang="es-ES" err="1"/>
                  <a:t>um</a:t>
                </a:r>
                <a:endParaRPr lang="es-ES"/>
              </a:p>
            </p:txBody>
          </p:sp>
        </mc:Choice>
        <mc:Fallback xmlns="">
          <p:sp>
            <p:nvSpPr>
              <p:cNvPr id="17" name="CuadroTexto 16">
                <a:extLst>
                  <a:ext uri="{FF2B5EF4-FFF2-40B4-BE49-F238E27FC236}">
                    <a16:creationId xmlns:a16="http://schemas.microsoft.com/office/drawing/2014/main" id="{FD5E774F-1F3E-77B3-0A85-B71250E220E9}"/>
                  </a:ext>
                </a:extLst>
              </p:cNvPr>
              <p:cNvSpPr txBox="1">
                <a:spLocks noRot="1" noChangeAspect="1" noMove="1" noResize="1" noEditPoints="1" noAdjustHandles="1" noChangeArrowheads="1" noChangeShapeType="1" noTextEdit="1"/>
              </p:cNvSpPr>
              <p:nvPr/>
            </p:nvSpPr>
            <p:spPr>
              <a:xfrm>
                <a:off x="762000" y="2819400"/>
                <a:ext cx="3260829" cy="369332"/>
              </a:xfrm>
              <a:prstGeom prst="rect">
                <a:avLst/>
              </a:prstGeom>
              <a:blipFill>
                <a:blip r:embed="rId6"/>
                <a:stretch>
                  <a:fillRect t="-10000" r="-561" b="-25000"/>
                </a:stretch>
              </a:blipFill>
            </p:spPr>
            <p:txBody>
              <a:bodyPr/>
              <a:lstStyle/>
              <a:p>
                <a:r>
                  <a:rPr lang="en-US">
                    <a:noFill/>
                  </a:rPr>
                  <a:t> </a:t>
                </a:r>
              </a:p>
            </p:txBody>
          </p:sp>
        </mc:Fallback>
      </mc:AlternateContent>
    </p:spTree>
    <p:extLst>
      <p:ext uri="{BB962C8B-B14F-4D97-AF65-F5344CB8AC3E}">
        <p14:creationId xmlns:p14="http://schemas.microsoft.com/office/powerpoint/2010/main" val="122265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636B-7BF0-5143-57E9-673FF1B33E8E}"/>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D79F9CCB-631D-A124-3694-9DBF91E01CAA}"/>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DED76083-7F21-5E97-9AC1-DEEB9C8B23CA}"/>
              </a:ext>
            </a:extLst>
          </p:cNvPr>
          <p:cNvSpPr>
            <a:spLocks noGrp="1"/>
          </p:cNvSpPr>
          <p:nvPr>
            <p:ph type="sldNum" sz="quarter" idx="7"/>
          </p:nvPr>
        </p:nvSpPr>
        <p:spPr/>
        <p:txBody>
          <a:bodyPr/>
          <a:lstStyle/>
          <a:p>
            <a:fld id="{C2F52289-4012-4053-9770-FE82CEB9514F}" type="slidenum">
              <a:rPr lang="en-US" smtClean="0"/>
              <a:pPr/>
              <a:t>6</a:t>
            </a:fld>
            <a:endParaRPr lang="en-US"/>
          </a:p>
        </p:txBody>
      </p:sp>
      <p:pic>
        <p:nvPicPr>
          <p:cNvPr id="10" name="Gráfico 9">
            <a:extLst>
              <a:ext uri="{FF2B5EF4-FFF2-40B4-BE49-F238E27FC236}">
                <a16:creationId xmlns:a16="http://schemas.microsoft.com/office/drawing/2014/main" id="{6A4FE9E0-92EE-4367-CEE1-FB072709D7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1E286371-F443-FD5C-BF57-FB23A8D7F4F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#3 – Delay imbalance with loss</a:t>
            </a:r>
          </a:p>
          <a:p>
            <a:pPr marL="12700">
              <a:spcBef>
                <a:spcPts val="100"/>
              </a:spcBef>
            </a:pPr>
            <a:r>
              <a:rPr lang="en-US" b="0" kern="0" spc="-5">
                <a:latin typeface="+mj-lt"/>
                <a:cs typeface="Lucida Sans"/>
              </a:rPr>
              <a:t>Fringe visibility</a:t>
            </a:r>
            <a:endParaRPr lang="en-US" b="0" kern="0">
              <a:latin typeface="+mj-lt"/>
              <a:cs typeface="Lucida Sans"/>
            </a:endParaRPr>
          </a:p>
        </p:txBody>
      </p:sp>
      <p:sp>
        <p:nvSpPr>
          <p:cNvPr id="2" name="CuadroTexto 1">
            <a:extLst>
              <a:ext uri="{FF2B5EF4-FFF2-40B4-BE49-F238E27FC236}">
                <a16:creationId xmlns:a16="http://schemas.microsoft.com/office/drawing/2014/main" id="{F1C12A10-91CE-B5DA-9D77-267ED06AEAC2}"/>
              </a:ext>
            </a:extLst>
          </p:cNvPr>
          <p:cNvSpPr txBox="1"/>
          <p:nvPr/>
        </p:nvSpPr>
        <p:spPr>
          <a:xfrm>
            <a:off x="609441" y="4860334"/>
            <a:ext cx="11199971" cy="1754326"/>
          </a:xfrm>
          <a:prstGeom prst="rect">
            <a:avLst/>
          </a:prstGeom>
          <a:solidFill>
            <a:schemeClr val="bg1">
              <a:lumMod val="95000"/>
            </a:schemeClr>
          </a:solidFill>
          <a:ln w="28575">
            <a:solidFill>
              <a:srgbClr val="E0700D"/>
            </a:solidFill>
          </a:ln>
        </p:spPr>
        <p:txBody>
          <a:bodyPr wrap="square" rtlCol="0">
            <a:spAutoFit/>
          </a:bodyPr>
          <a:lstStyle/>
          <a:p>
            <a:pPr algn="just"/>
            <a:r>
              <a:rPr lang="es-ES" sz="1200">
                <a:latin typeface="Arial" panose="020B0604020202020204" pitchFamily="34" charset="0"/>
                <a:cs typeface="Arial" panose="020B0604020202020204" pitchFamily="34" charset="0"/>
              </a:rPr>
              <a:t>En la gráfica superior (escala lineal), la potencia transmitida ya no oscila entre el mínimo absoluto de 0 y el máximo de 1, sino que fluctúa débilmente entre valores aproximados de 0.20 y 0.26. Según la teoría de interferencia de dos ondas, para lograr una cancelación perfecta (un cero de potencia), ambas ondas recombinadas deben tener amplitudes idénticas . Debido a la gigantesca diferencia de longitud, la luz que viaja por el brazo largo sufre una atenuación masiva en comparación con el brazo corto . Al llegar al segundo acoplador, la onda del brazo largo es tan débil que no logra cancelar significativamente a la onda del brazo corto, reduciendo drásticamente la "visibilidad" del patrón de interferencia.</a:t>
            </a:r>
          </a:p>
          <a:p>
            <a:pPr algn="just"/>
            <a:r>
              <a:rPr lang="es-ES" sz="1200">
                <a:latin typeface="Arial" panose="020B0604020202020204" pitchFamily="34" charset="0"/>
                <a:cs typeface="Arial" panose="020B0604020202020204" pitchFamily="34" charset="0"/>
              </a:rPr>
              <a:t>La gráfica inferior muestra exactamente el mismo fenómeno en escala logarítmica (dB). A diferencia de los MZI ideales o sin pérdidas donde los nulos pueden desplomarse por debajo de los 50 dB , en este caso los valles apenas alcanzan los 14 dB y los picos se quedan en -11.5 dB. Esto evidencia una Relación de Extinción (</a:t>
            </a:r>
            <a:r>
              <a:rPr lang="es-ES" sz="1200" err="1">
                <a:latin typeface="Arial" panose="020B0604020202020204" pitchFamily="34" charset="0"/>
                <a:cs typeface="Arial" panose="020B0604020202020204" pitchFamily="34" charset="0"/>
              </a:rPr>
              <a:t>Extinction</a:t>
            </a:r>
            <a:r>
              <a:rPr lang="es-ES" sz="1200">
                <a:latin typeface="Arial" panose="020B0604020202020204" pitchFamily="34" charset="0"/>
                <a:cs typeface="Arial" panose="020B0604020202020204" pitchFamily="34" charset="0"/>
              </a:rPr>
              <a:t> Ratio) paupérrima, de apenas unos 2.5 dB de profundidad. Esto demuestra visualmente que utilizar acopladores 50:50 es una estrategia ineficaz cuando los brazos del interferómetro experimentan niveles de atenuación muy asimétricos. </a:t>
            </a:r>
            <a:endParaRPr lang="en-US" sz="120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DBAE930-4EE5-671B-4DE7-6BC60C48E7C0}"/>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A6CCE634-FF91-FD5F-7C1D-4329E9DA2469}"/>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600" b="1">
                <a:solidFill>
                  <a:schemeClr val="tx1"/>
                </a:solidFill>
                <a:latin typeface="Arial" panose="020B0604020202020204" pitchFamily="34" charset="0"/>
                <a:cs typeface="Arial" panose="020B0604020202020204" pitchFamily="34" charset="0"/>
              </a:rPr>
              <a:t>Hints:</a:t>
            </a:r>
          </a:p>
          <a:p>
            <a:pPr algn="just"/>
            <a:r>
              <a:rPr lang="en-US" sz="1600" err="1">
                <a:solidFill>
                  <a:schemeClr val="tx1"/>
                </a:solidFill>
                <a:latin typeface="Arial" panose="020B0604020202020204" pitchFamily="34" charset="0"/>
                <a:cs typeface="Arial" panose="020B0604020202020204" pitchFamily="34" charset="0"/>
                <a:sym typeface="Wingdings" pitchFamily="2" charset="2"/>
              </a:rPr>
              <a:t>wvl</a:t>
            </a:r>
            <a:r>
              <a:rPr lang="en-US" sz="1600">
                <a:solidFill>
                  <a:schemeClr val="tx1"/>
                </a:solidFill>
                <a:latin typeface="Arial" panose="020B0604020202020204" pitchFamily="34" charset="0"/>
                <a:cs typeface="Arial" panose="020B0604020202020204" pitchFamily="34" charset="0"/>
                <a:sym typeface="Wingdings" pitchFamily="2" charset="2"/>
              </a:rPr>
              <a:t> [1550-1550.5] step 0.0000005</a:t>
            </a:r>
          </a:p>
          <a:p>
            <a:pPr algn="just"/>
            <a:r>
              <a:rPr lang="en-US" sz="1600">
                <a:solidFill>
                  <a:schemeClr val="tx1"/>
                </a:solidFill>
                <a:latin typeface="Arial" panose="020B0604020202020204" pitchFamily="34" charset="0"/>
                <a:cs typeface="Arial" panose="020B0604020202020204" pitchFamily="34" charset="0"/>
                <a:sym typeface="Wingdings" pitchFamily="2" charset="2"/>
              </a:rPr>
              <a:t>Silicon waveguide model:</a:t>
            </a:r>
          </a:p>
          <a:p>
            <a:pPr algn="just"/>
            <a:r>
              <a:rPr lang="en-US" sz="1600" err="1">
                <a:solidFill>
                  <a:schemeClr val="tx1"/>
                </a:solidFill>
                <a:latin typeface="Arial" panose="020B0604020202020204" pitchFamily="34" charset="0"/>
                <a:cs typeface="Arial" panose="020B0604020202020204" pitchFamily="34" charset="0"/>
                <a:sym typeface="Wingdings" pitchFamily="2" charset="2"/>
              </a:rPr>
              <a:t>n_eff</a:t>
            </a:r>
            <a:r>
              <a:rPr lang="en-US" sz="1600">
                <a:solidFill>
                  <a:schemeClr val="tx1"/>
                </a:solidFill>
                <a:latin typeface="Arial" panose="020B0604020202020204" pitchFamily="34" charset="0"/>
                <a:cs typeface="Arial" panose="020B0604020202020204" pitchFamily="34" charset="0"/>
                <a:sym typeface="Wingdings" pitchFamily="2" charset="2"/>
              </a:rPr>
              <a:t> = 2.38, </a:t>
            </a:r>
          </a:p>
          <a:p>
            <a:pPr algn="just"/>
            <a:r>
              <a:rPr lang="en-US" sz="1600" err="1">
                <a:solidFill>
                  <a:schemeClr val="tx1"/>
                </a:solidFill>
                <a:latin typeface="Arial" panose="020B0604020202020204" pitchFamily="34" charset="0"/>
                <a:cs typeface="Arial" panose="020B0604020202020204" pitchFamily="34" charset="0"/>
                <a:sym typeface="Wingdings" pitchFamily="2" charset="2"/>
              </a:rPr>
              <a:t>n_g</a:t>
            </a:r>
            <a:r>
              <a:rPr lang="en-US" sz="1600">
                <a:solidFill>
                  <a:schemeClr val="tx1"/>
                </a:solidFill>
                <a:latin typeface="Arial" panose="020B0604020202020204" pitchFamily="34" charset="0"/>
                <a:cs typeface="Arial" panose="020B0604020202020204" pitchFamily="34" charset="0"/>
                <a:sym typeface="Wingdings" pitchFamily="2" charset="2"/>
              </a:rPr>
              <a:t> = 4.25, </a:t>
            </a:r>
          </a:p>
          <a:p>
            <a:pPr algn="just"/>
            <a:r>
              <a:rPr lang="en-US" sz="1600">
                <a:solidFill>
                  <a:schemeClr val="tx1"/>
                </a:solidFill>
                <a:latin typeface="Arial" panose="020B0604020202020204" pitchFamily="34" charset="0"/>
                <a:cs typeface="Arial" panose="020B0604020202020204" pitchFamily="34" charset="0"/>
                <a:sym typeface="Wingdings" pitchFamily="2" charset="2"/>
              </a:rPr>
              <a:t>D=0,</a:t>
            </a:r>
          </a:p>
          <a:p>
            <a:pPr algn="just"/>
            <a:r>
              <a:rPr lang="en-US" sz="1600" err="1">
                <a:solidFill>
                  <a:schemeClr val="tx1"/>
                </a:solidFill>
                <a:latin typeface="Arial" panose="020B0604020202020204" pitchFamily="34" charset="0"/>
                <a:cs typeface="Arial" panose="020B0604020202020204" pitchFamily="34" charset="0"/>
                <a:sym typeface="Wingdings" pitchFamily="2" charset="2"/>
              </a:rPr>
              <a:t>L_base</a:t>
            </a:r>
            <a:r>
              <a:rPr lang="en-US" sz="1600">
                <a:solidFill>
                  <a:schemeClr val="tx1"/>
                </a:solidFill>
                <a:latin typeface="Arial" panose="020B0604020202020204" pitchFamily="34" charset="0"/>
                <a:cs typeface="Arial" panose="020B0604020202020204" pitchFamily="34" charset="0"/>
                <a:sym typeface="Wingdings" pitchFamily="2" charset="2"/>
              </a:rPr>
              <a:t>=1000</a:t>
            </a:r>
          </a:p>
          <a:p>
            <a:pPr algn="just"/>
            <a:r>
              <a:rPr lang="en-US" sz="1600">
                <a:solidFill>
                  <a:schemeClr val="tx1"/>
                </a:solidFill>
                <a:latin typeface="Arial" panose="020B0604020202020204" pitchFamily="34" charset="0"/>
                <a:cs typeface="Arial" panose="020B0604020202020204" pitchFamily="34" charset="0"/>
                <a:sym typeface="Wingdings" pitchFamily="2" charset="2"/>
              </a:rPr>
              <a:t>dL = </a:t>
            </a:r>
            <a:r>
              <a:rPr lang="en-US" sz="1600" err="1">
                <a:solidFill>
                  <a:schemeClr val="tx1"/>
                </a:solidFill>
                <a:latin typeface="Arial" panose="020B0604020202020204" pitchFamily="34" charset="0"/>
                <a:cs typeface="Arial" panose="020B0604020202020204" pitchFamily="34" charset="0"/>
                <a:sym typeface="Wingdings" pitchFamily="2" charset="2"/>
              </a:rPr>
              <a:t>L_base</a:t>
            </a:r>
            <a:r>
              <a:rPr lang="en-US" sz="1600">
                <a:solidFill>
                  <a:schemeClr val="tx1"/>
                </a:solidFill>
                <a:latin typeface="Arial" panose="020B0604020202020204" pitchFamily="34" charset="0"/>
                <a:cs typeface="Arial" panose="020B0604020202020204" pitchFamily="34" charset="0"/>
                <a:sym typeface="Wingdings" pitchFamily="2" charset="2"/>
              </a:rPr>
              <a:t> + 55960.0840224255;</a:t>
            </a:r>
          </a:p>
          <a:p>
            <a:pPr algn="just"/>
            <a:r>
              <a:rPr lang="en-US" sz="1600">
                <a:solidFill>
                  <a:schemeClr val="tx1"/>
                </a:solidFill>
                <a:latin typeface="Arial" panose="020B0604020202020204" pitchFamily="34" charset="0"/>
                <a:cs typeface="Arial" panose="020B0604020202020204" pitchFamily="34" charset="0"/>
                <a:sym typeface="Wingdings" pitchFamily="2" charset="2"/>
              </a:rPr>
              <a:t>loss = 4 dB / cm</a:t>
            </a:r>
          </a:p>
          <a:p>
            <a:pPr algn="just"/>
            <a:r>
              <a:rPr lang="en-US" sz="1600" b="1">
                <a:solidFill>
                  <a:schemeClr val="tx1"/>
                </a:solidFill>
                <a:latin typeface="Arial" panose="020B0604020202020204" pitchFamily="34" charset="0"/>
                <a:cs typeface="Arial" panose="020B0604020202020204" pitchFamily="34" charset="0"/>
                <a:sym typeface="Wingdings" pitchFamily="2" charset="2"/>
              </a:rPr>
              <a:t>Case 1</a:t>
            </a:r>
            <a:r>
              <a:rPr lang="en-US" sz="1600">
                <a:solidFill>
                  <a:schemeClr val="tx1"/>
                </a:solidFill>
                <a:latin typeface="Arial" panose="020B0604020202020204" pitchFamily="34" charset="0"/>
                <a:cs typeface="Arial" panose="020B0604020202020204" pitchFamily="34" charset="0"/>
                <a:sym typeface="Wingdings" pitchFamily="2" charset="2"/>
              </a:rPr>
              <a:t>. Simulate for Ka = </a:t>
            </a:r>
            <a:r>
              <a:rPr lang="en-US" sz="1600" err="1">
                <a:solidFill>
                  <a:schemeClr val="tx1"/>
                </a:solidFill>
                <a:latin typeface="Arial" panose="020B0604020202020204" pitchFamily="34" charset="0"/>
                <a:cs typeface="Arial" panose="020B0604020202020204" pitchFamily="34" charset="0"/>
                <a:sym typeface="Wingdings" pitchFamily="2" charset="2"/>
              </a:rPr>
              <a:t>Kb</a:t>
            </a:r>
            <a:r>
              <a:rPr lang="en-US" sz="1600">
                <a:solidFill>
                  <a:schemeClr val="tx1"/>
                </a:solidFill>
                <a:latin typeface="Arial" panose="020B0604020202020204" pitchFamily="34" charset="0"/>
                <a:cs typeface="Arial" panose="020B0604020202020204" pitchFamily="34" charset="0"/>
                <a:sym typeface="Wingdings" pitchFamily="2" charset="2"/>
              </a:rPr>
              <a:t> = 0.5 for all </a:t>
            </a:r>
            <a:r>
              <a:rPr lang="en-US" sz="1600" err="1">
                <a:solidFill>
                  <a:schemeClr val="tx1"/>
                </a:solidFill>
                <a:latin typeface="Arial" panose="020B0604020202020204" pitchFamily="34" charset="0"/>
                <a:cs typeface="Arial" panose="020B0604020202020204" pitchFamily="34" charset="0"/>
                <a:sym typeface="Wingdings" pitchFamily="2" charset="2"/>
              </a:rPr>
              <a:t>wvl</a:t>
            </a:r>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b="1">
                <a:solidFill>
                  <a:schemeClr val="tx1"/>
                </a:solidFill>
                <a:latin typeface="Arial" panose="020B0604020202020204" pitchFamily="34" charset="0"/>
                <a:cs typeface="Arial" panose="020B0604020202020204" pitchFamily="34" charset="0"/>
                <a:sym typeface="Wingdings" pitchFamily="2" charset="2"/>
              </a:rPr>
              <a:t>Case 2</a:t>
            </a:r>
            <a:r>
              <a:rPr lang="en-US" sz="1600">
                <a:solidFill>
                  <a:schemeClr val="tx1"/>
                </a:solidFill>
                <a:latin typeface="Arial" panose="020B0604020202020204" pitchFamily="34" charset="0"/>
                <a:cs typeface="Arial" panose="020B0604020202020204" pitchFamily="34" charset="0"/>
                <a:sym typeface="Wingdings" pitchFamily="2" charset="2"/>
              </a:rPr>
              <a:t>. Simulate for Ka=0.1 for all </a:t>
            </a:r>
            <a:r>
              <a:rPr lang="en-US" sz="1600" err="1">
                <a:solidFill>
                  <a:schemeClr val="tx1"/>
                </a:solidFill>
                <a:latin typeface="Arial" panose="020B0604020202020204" pitchFamily="34" charset="0"/>
                <a:cs typeface="Arial" panose="020B0604020202020204" pitchFamily="34" charset="0"/>
                <a:sym typeface="Wingdings" pitchFamily="2" charset="2"/>
              </a:rPr>
              <a:t>wvl</a:t>
            </a:r>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err="1">
                <a:solidFill>
                  <a:schemeClr val="tx1"/>
                </a:solidFill>
                <a:latin typeface="Arial" panose="020B0604020202020204" pitchFamily="34" charset="0"/>
                <a:cs typeface="Arial" panose="020B0604020202020204" pitchFamily="34" charset="0"/>
                <a:sym typeface="Wingdings" pitchFamily="2" charset="2"/>
              </a:rPr>
              <a:t>Kb</a:t>
            </a:r>
            <a:r>
              <a:rPr lang="en-US" sz="1600">
                <a:solidFill>
                  <a:schemeClr val="tx1"/>
                </a:solidFill>
                <a:latin typeface="Arial" panose="020B0604020202020204" pitchFamily="34" charset="0"/>
                <a:cs typeface="Arial" panose="020B0604020202020204" pitchFamily="34" charset="0"/>
                <a:sym typeface="Wingdings" pitchFamily="2" charset="2"/>
              </a:rPr>
              <a:t>=0.5 for all </a:t>
            </a:r>
            <a:r>
              <a:rPr lang="en-US" sz="1600" err="1">
                <a:solidFill>
                  <a:schemeClr val="tx1"/>
                </a:solidFill>
                <a:latin typeface="Arial" panose="020B0604020202020204" pitchFamily="34" charset="0"/>
                <a:cs typeface="Arial" panose="020B0604020202020204" pitchFamily="34" charset="0"/>
                <a:sym typeface="Wingdings" pitchFamily="2" charset="2"/>
              </a:rPr>
              <a:t>wvl</a:t>
            </a:r>
            <a:endParaRPr lang="en-US" sz="1600">
              <a:solidFill>
                <a:schemeClr val="tx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EF71FD03-8141-88A1-69BA-49588EB48896}"/>
              </a:ext>
            </a:extLst>
          </p:cNvPr>
          <p:cNvSpPr txBox="1"/>
          <p:nvPr/>
        </p:nvSpPr>
        <p:spPr>
          <a:xfrm>
            <a:off x="2145352" y="2494306"/>
            <a:ext cx="2260747" cy="646331"/>
          </a:xfrm>
          <a:prstGeom prst="rect">
            <a:avLst/>
          </a:prstGeom>
          <a:noFill/>
        </p:spPr>
        <p:txBody>
          <a:bodyPr wrap="none" rtlCol="0">
            <a:spAutoFit/>
          </a:bodyPr>
          <a:lstStyle/>
          <a:p>
            <a:pPr algn="ctr"/>
            <a:r>
              <a:rPr lang="es-ES"/>
              <a:t>MZI transfer </a:t>
            </a:r>
            <a:r>
              <a:rPr lang="es-ES" err="1"/>
              <a:t>functions</a:t>
            </a:r>
            <a:endParaRPr lang="en-US"/>
          </a:p>
          <a:p>
            <a:pPr algn="ctr"/>
            <a:r>
              <a:rPr lang="en-US"/>
              <a:t>Paste plot here</a:t>
            </a:r>
          </a:p>
        </p:txBody>
      </p:sp>
      <p:pic>
        <p:nvPicPr>
          <p:cNvPr id="8" name="Imagen 7">
            <a:extLst>
              <a:ext uri="{FF2B5EF4-FFF2-40B4-BE49-F238E27FC236}">
                <a16:creationId xmlns:a16="http://schemas.microsoft.com/office/drawing/2014/main" id="{8E788FAB-4892-48A1-206E-E45F82A004D6}"/>
              </a:ext>
            </a:extLst>
          </p:cNvPr>
          <p:cNvPicPr>
            <a:picLocks noChangeAspect="1"/>
          </p:cNvPicPr>
          <p:nvPr/>
        </p:nvPicPr>
        <p:blipFill>
          <a:blip r:embed="rId3"/>
          <a:stretch>
            <a:fillRect/>
          </a:stretch>
        </p:blipFill>
        <p:spPr>
          <a:xfrm>
            <a:off x="685800" y="1523422"/>
            <a:ext cx="5230070" cy="2785931"/>
          </a:xfrm>
          <a:prstGeom prst="rect">
            <a:avLst/>
          </a:prstGeom>
        </p:spPr>
      </p:pic>
    </p:spTree>
    <p:extLst>
      <p:ext uri="{BB962C8B-B14F-4D97-AF65-F5344CB8AC3E}">
        <p14:creationId xmlns:p14="http://schemas.microsoft.com/office/powerpoint/2010/main" val="1475710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5897D-838B-0FDA-3315-8F32583952DB}"/>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5A6E43C8-98DF-BC3F-B12A-08265DC4B63A}"/>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FFC3DF78-9A77-03CD-98F3-E75FD2982D62}"/>
              </a:ext>
            </a:extLst>
          </p:cNvPr>
          <p:cNvSpPr>
            <a:spLocks noGrp="1"/>
          </p:cNvSpPr>
          <p:nvPr>
            <p:ph type="sldNum" sz="quarter" idx="7"/>
          </p:nvPr>
        </p:nvSpPr>
        <p:spPr/>
        <p:txBody>
          <a:bodyPr/>
          <a:lstStyle/>
          <a:p>
            <a:fld id="{C2F52289-4012-4053-9770-FE82CEB9514F}" type="slidenum">
              <a:rPr lang="en-US" smtClean="0"/>
              <a:pPr/>
              <a:t>7</a:t>
            </a:fld>
            <a:endParaRPr lang="en-US"/>
          </a:p>
        </p:txBody>
      </p:sp>
      <p:pic>
        <p:nvPicPr>
          <p:cNvPr id="10" name="Gráfico 9">
            <a:extLst>
              <a:ext uri="{FF2B5EF4-FFF2-40B4-BE49-F238E27FC236}">
                <a16:creationId xmlns:a16="http://schemas.microsoft.com/office/drawing/2014/main" id="{A5866067-D091-E98D-3A0E-9050A80CBFE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0AED1AA5-67C7-180E-7AE6-8CDA034D112E}"/>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#3 – Delay imbalance with loss</a:t>
            </a:r>
          </a:p>
          <a:p>
            <a:pPr marL="12700">
              <a:spcBef>
                <a:spcPts val="100"/>
              </a:spcBef>
            </a:pPr>
            <a:r>
              <a:rPr lang="en-US" b="0" kern="0" spc="-5">
                <a:latin typeface="+mj-lt"/>
                <a:cs typeface="Lucida Sans"/>
              </a:rPr>
              <a:t>Caso 2</a:t>
            </a:r>
            <a:endParaRPr lang="en-US" b="0" kern="0">
              <a:latin typeface="+mj-lt"/>
              <a:cs typeface="Lucida Sans"/>
            </a:endParaRPr>
          </a:p>
        </p:txBody>
      </p:sp>
      <p:sp>
        <p:nvSpPr>
          <p:cNvPr id="2" name="CuadroTexto 1">
            <a:extLst>
              <a:ext uri="{FF2B5EF4-FFF2-40B4-BE49-F238E27FC236}">
                <a16:creationId xmlns:a16="http://schemas.microsoft.com/office/drawing/2014/main" id="{1905C51C-C7A6-C3DA-15B7-56BFD4F0E0B4}"/>
              </a:ext>
            </a:extLst>
          </p:cNvPr>
          <p:cNvSpPr txBox="1"/>
          <p:nvPr/>
        </p:nvSpPr>
        <p:spPr>
          <a:xfrm>
            <a:off x="609441" y="4860334"/>
            <a:ext cx="11199971" cy="1938992"/>
          </a:xfrm>
          <a:prstGeom prst="rect">
            <a:avLst/>
          </a:prstGeom>
          <a:solidFill>
            <a:schemeClr val="bg1">
              <a:lumMod val="95000"/>
            </a:schemeClr>
          </a:solidFill>
          <a:ln w="28575">
            <a:solidFill>
              <a:srgbClr val="E0700D"/>
            </a:solidFill>
          </a:ln>
        </p:spPr>
        <p:txBody>
          <a:bodyPr wrap="square" rtlCol="0">
            <a:spAutoFit/>
          </a:bodyPr>
          <a:lstStyle/>
          <a:p>
            <a:pPr algn="just"/>
            <a:r>
              <a:rPr lang="es-ES" sz="1200">
                <a:latin typeface="Arial" panose="020B0604020202020204" pitchFamily="34" charset="0"/>
                <a:cs typeface="Arial" panose="020B0604020202020204" pitchFamily="34" charset="0"/>
              </a:rPr>
              <a:t>En el Caso 2, la potencia transmitida en escala lineal muestra una oscilación débil, variando apenas entre 0.39 y 0.43. Al emplear un acoplador de entrada asimétrico (Ka = 0.1), la potencia óptica se distribuye de forma muy desigual desde el principio (90% / 10%) . Dado que la teoría dicta que la interferencia destructiva total requiere que las ondas superpuestas posean intensidades idénticas (I1 = I2) , la suma de este reparto asimétrico inicial y la altísima atenuación acumulada por el brazo de retardo largo  imposibilita casi por completo la cancelación de la señal al recombinarse. </a:t>
            </a:r>
          </a:p>
          <a:p>
            <a:pPr algn="just"/>
            <a:endParaRPr lang="en-US" sz="120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La gráfica inferior en escala logarítmica evidencia el profundo deterioro funcional de esta configuración. Las fluctuaciones de potencia apenas oscilan entre unos -7.3 dB (picos) y -8.2 dB (valles). Esto arroja una Relación de Extinción (ER) inferior a 1 dB, lo cual representa un desempeño mucho más deficiente que los </a:t>
            </a:r>
            <a:r>
              <a:rPr lang="es-ES" sz="1200" err="1">
                <a:latin typeface="Arial" panose="020B0604020202020204" pitchFamily="34" charset="0"/>
                <a:cs typeface="Arial" panose="020B0604020202020204" pitchFamily="34" charset="0"/>
              </a:rPr>
              <a:t>approx</a:t>
            </a:r>
            <a:r>
              <a:rPr lang="es-ES" sz="1200">
                <a:latin typeface="Arial" panose="020B0604020202020204" pitchFamily="34" charset="0"/>
                <a:cs typeface="Arial" panose="020B0604020202020204" pitchFamily="34" charset="0"/>
              </a:rPr>
              <a:t> 2.5 dB obtenidos en el Caso 1.</a:t>
            </a: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D6EFAA91-8B37-AE02-F58B-648B82462B77}"/>
              </a:ext>
            </a:extLst>
          </p:cNvPr>
          <p:cNvSpPr/>
          <p:nvPr/>
        </p:nvSpPr>
        <p:spPr>
          <a:xfrm>
            <a:off x="3497807" y="1323543"/>
            <a:ext cx="5607282" cy="3340276"/>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n 10">
            <a:extLst>
              <a:ext uri="{FF2B5EF4-FFF2-40B4-BE49-F238E27FC236}">
                <a16:creationId xmlns:a16="http://schemas.microsoft.com/office/drawing/2014/main" id="{AF1C4C8F-F784-9622-A578-A1A2108D0405}"/>
              </a:ext>
            </a:extLst>
          </p:cNvPr>
          <p:cNvPicPr>
            <a:picLocks noChangeAspect="1"/>
          </p:cNvPicPr>
          <p:nvPr/>
        </p:nvPicPr>
        <p:blipFill>
          <a:blip r:embed="rId3"/>
          <a:stretch>
            <a:fillRect/>
          </a:stretch>
        </p:blipFill>
        <p:spPr>
          <a:xfrm>
            <a:off x="3576636" y="1422421"/>
            <a:ext cx="5287299" cy="2848021"/>
          </a:xfrm>
          <a:prstGeom prst="rect">
            <a:avLst/>
          </a:prstGeom>
        </p:spPr>
      </p:pic>
    </p:spTree>
    <p:extLst>
      <p:ext uri="{BB962C8B-B14F-4D97-AF65-F5344CB8AC3E}">
        <p14:creationId xmlns:p14="http://schemas.microsoft.com/office/powerpoint/2010/main" val="1286375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8</a:t>
            </a:fld>
            <a:endParaRPr lang="en-US"/>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386180"/>
            <a:ext cx="11199530" cy="1569660"/>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La función de transferencia de un resonador en anillo simple se caracteriza por presentar caídas de transmisión estrechas y periódicas. Estos valles ocurren cuando la luz cumple la condición de fase y entra en resonancia dentro de la cavidad circular, quedando atrapada y reduciendo drásticamente la potencia óptica en el puerto de salida.</a:t>
            </a:r>
          </a:p>
          <a:p>
            <a:pPr algn="just"/>
            <a:r>
              <a:rPr lang="es-ES" sz="1200" dirty="0">
                <a:latin typeface="Arial" panose="020B0604020202020204" pitchFamily="34" charset="0"/>
                <a:cs typeface="Arial" panose="020B0604020202020204" pitchFamily="34" charset="0"/>
              </a:rPr>
              <a:t>La distancia espectral entre estas resonancias consecutivas se denomina Rango Espectral Libre (FSR) y es inversamente proporcional al perímetro del anillo; es decir, si aumentamos el tamaño de la cavidad, la separación entre los valles será menor. Para un dispositivo con un perímetro de 50 µm (Lr), un índice de grupo de 2.0 (ng) y una longitud de onda central de 1.55 µm (lambda), el valor teórico se define mediante la siguiente ecuación FSR = lambda^2/ng*Lr</a:t>
            </a:r>
          </a:p>
          <a:p>
            <a:pPr algn="just"/>
            <a:r>
              <a:rPr lang="es-ES" sz="1200" dirty="0">
                <a:latin typeface="Arial" panose="020B0604020202020204" pitchFamily="34" charset="0"/>
                <a:cs typeface="Arial" panose="020B0604020202020204" pitchFamily="34" charset="0"/>
              </a:rPr>
              <a:t>Al aplicar esta fórmula obtenemos un FSR = 1.55^2/2 *50 = 0.024um, lo que equivale a 24.03 nm. Este resultado numérico confirma lo observado en la gráfica, coincidiendo con la separación constante que existe entre los mínimos de transmisión simulados.</a:t>
            </a:r>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5555674" cy="287769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ángulo 13">
            <a:extLst>
              <a:ext uri="{FF2B5EF4-FFF2-40B4-BE49-F238E27FC236}">
                <a16:creationId xmlns:a16="http://schemas.microsoft.com/office/drawing/2014/main" id="{6AA857E7-5C39-DCE1-10B5-40300FCF4B26}"/>
              </a:ext>
            </a:extLst>
          </p:cNvPr>
          <p:cNvSpPr/>
          <p:nvPr/>
        </p:nvSpPr>
        <p:spPr>
          <a:xfrm>
            <a:off x="6254885" y="1418373"/>
            <a:ext cx="5555674" cy="287769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áfico 8">
            <a:extLst>
              <a:ext uri="{FF2B5EF4-FFF2-40B4-BE49-F238E27FC236}">
                <a16:creationId xmlns:a16="http://schemas.microsoft.com/office/drawing/2014/main" id="{83C716FC-7070-6DA5-E116-195D4CD9BD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0" name="object 16">
            <a:extLst>
              <a:ext uri="{FF2B5EF4-FFF2-40B4-BE49-F238E27FC236}">
                <a16:creationId xmlns:a16="http://schemas.microsoft.com/office/drawing/2014/main" id="{C319E249-48A9-70AD-7ACE-23CF9ABF613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#4 – Ring Resonator</a:t>
            </a:r>
          </a:p>
          <a:p>
            <a:pPr marL="12700">
              <a:spcBef>
                <a:spcPts val="100"/>
              </a:spcBef>
            </a:pPr>
            <a:r>
              <a:rPr lang="en-US" b="0" kern="0" spc="-5">
                <a:latin typeface="+mj-lt"/>
                <a:cs typeface="Lucida Sans"/>
              </a:rPr>
              <a:t>Single ring resonator – most simple case Constant coupler K (no wavelength variation)</a:t>
            </a:r>
          </a:p>
        </p:txBody>
      </p:sp>
      <p:pic>
        <p:nvPicPr>
          <p:cNvPr id="17" name="Imagen 16">
            <a:extLst>
              <a:ext uri="{FF2B5EF4-FFF2-40B4-BE49-F238E27FC236}">
                <a16:creationId xmlns:a16="http://schemas.microsoft.com/office/drawing/2014/main" id="{7F8C9B98-AD00-6220-F707-8CDF9B1EC4B7}"/>
              </a:ext>
            </a:extLst>
          </p:cNvPr>
          <p:cNvPicPr>
            <a:picLocks noChangeAspect="1"/>
          </p:cNvPicPr>
          <p:nvPr/>
        </p:nvPicPr>
        <p:blipFill>
          <a:blip r:embed="rId3"/>
          <a:stretch>
            <a:fillRect/>
          </a:stretch>
        </p:blipFill>
        <p:spPr>
          <a:xfrm>
            <a:off x="2336354" y="3857918"/>
            <a:ext cx="2105025" cy="438150"/>
          </a:xfrm>
          <a:prstGeom prst="rect">
            <a:avLst/>
          </a:prstGeom>
        </p:spPr>
      </p:pic>
      <p:pic>
        <p:nvPicPr>
          <p:cNvPr id="18" name="Imagen 17">
            <a:extLst>
              <a:ext uri="{FF2B5EF4-FFF2-40B4-BE49-F238E27FC236}">
                <a16:creationId xmlns:a16="http://schemas.microsoft.com/office/drawing/2014/main" id="{C931E8F7-926F-3E6E-6FD4-9BB950ABAD34}"/>
              </a:ext>
            </a:extLst>
          </p:cNvPr>
          <p:cNvPicPr>
            <a:picLocks noChangeAspect="1"/>
          </p:cNvPicPr>
          <p:nvPr/>
        </p:nvPicPr>
        <p:blipFill>
          <a:blip r:embed="rId3"/>
          <a:stretch>
            <a:fillRect/>
          </a:stretch>
        </p:blipFill>
        <p:spPr>
          <a:xfrm>
            <a:off x="8108627" y="3793456"/>
            <a:ext cx="2105025" cy="438150"/>
          </a:xfrm>
          <a:prstGeom prst="rect">
            <a:avLst/>
          </a:prstGeom>
        </p:spPr>
      </p:pic>
      <p:pic>
        <p:nvPicPr>
          <p:cNvPr id="20" name="Imagen 19">
            <a:extLst>
              <a:ext uri="{FF2B5EF4-FFF2-40B4-BE49-F238E27FC236}">
                <a16:creationId xmlns:a16="http://schemas.microsoft.com/office/drawing/2014/main" id="{D2830917-1CBA-44C2-405D-138636C70B5E}"/>
              </a:ext>
            </a:extLst>
          </p:cNvPr>
          <p:cNvPicPr>
            <a:picLocks noChangeAspect="1"/>
          </p:cNvPicPr>
          <p:nvPr/>
        </p:nvPicPr>
        <p:blipFill>
          <a:blip r:embed="rId4"/>
          <a:stretch>
            <a:fillRect/>
          </a:stretch>
        </p:blipFill>
        <p:spPr>
          <a:xfrm>
            <a:off x="673505" y="1851632"/>
            <a:ext cx="5358590" cy="2016103"/>
          </a:xfrm>
          <a:prstGeom prst="rect">
            <a:avLst/>
          </a:prstGeom>
        </p:spPr>
      </p:pic>
      <p:pic>
        <p:nvPicPr>
          <p:cNvPr id="24" name="Imagen 23">
            <a:extLst>
              <a:ext uri="{FF2B5EF4-FFF2-40B4-BE49-F238E27FC236}">
                <a16:creationId xmlns:a16="http://schemas.microsoft.com/office/drawing/2014/main" id="{70789454-512C-8507-A0A6-F348E5C7E4BE}"/>
              </a:ext>
            </a:extLst>
          </p:cNvPr>
          <p:cNvPicPr>
            <a:picLocks noChangeAspect="1"/>
          </p:cNvPicPr>
          <p:nvPr/>
        </p:nvPicPr>
        <p:blipFill>
          <a:blip r:embed="rId5"/>
          <a:stretch>
            <a:fillRect/>
          </a:stretch>
        </p:blipFill>
        <p:spPr>
          <a:xfrm>
            <a:off x="6347514" y="1851632"/>
            <a:ext cx="5383891" cy="1979767"/>
          </a:xfrm>
          <a:prstGeom prst="rect">
            <a:avLst/>
          </a:prstGeom>
        </p:spPr>
      </p:pic>
    </p:spTree>
    <p:extLst>
      <p:ext uri="{BB962C8B-B14F-4D97-AF65-F5344CB8AC3E}">
        <p14:creationId xmlns:p14="http://schemas.microsoft.com/office/powerpoint/2010/main" val="543184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E6D80-8AEA-D4D8-910A-1B3FE9B14204}"/>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B3644126-9E8D-93B7-72AF-A7B907C48579}"/>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604C58AB-2C93-D65C-067F-28754050C946}"/>
              </a:ext>
            </a:extLst>
          </p:cNvPr>
          <p:cNvSpPr>
            <a:spLocks noGrp="1"/>
          </p:cNvSpPr>
          <p:nvPr>
            <p:ph type="sldNum" sz="quarter" idx="7"/>
          </p:nvPr>
        </p:nvSpPr>
        <p:spPr/>
        <p:txBody>
          <a:bodyPr/>
          <a:lstStyle/>
          <a:p>
            <a:fld id="{C2F52289-4012-4053-9770-FE82CEB9514F}" type="slidenum">
              <a:rPr lang="en-US" smtClean="0"/>
              <a:pPr/>
              <a:t>9</a:t>
            </a:fld>
            <a:endParaRPr lang="en-US"/>
          </a:p>
        </p:txBody>
      </p:sp>
      <p:sp>
        <p:nvSpPr>
          <p:cNvPr id="8" name="CuadroTexto 7">
            <a:extLst>
              <a:ext uri="{FF2B5EF4-FFF2-40B4-BE49-F238E27FC236}">
                <a16:creationId xmlns:a16="http://schemas.microsoft.com/office/drawing/2014/main" id="{53E5F797-5D76-99A7-85E5-8208C84A7819}"/>
              </a:ext>
            </a:extLst>
          </p:cNvPr>
          <p:cNvSpPr txBox="1"/>
          <p:nvPr/>
        </p:nvSpPr>
        <p:spPr>
          <a:xfrm>
            <a:off x="611029" y="4556904"/>
            <a:ext cx="11199530" cy="1384995"/>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El diseño fija el perímetro del resonador en 80.08 µm para alcanzar un FSR objetivo de 15 nm, un espaciado espectral que se verifica claramente en la simulación. Cabe destacar que el coeficiente de acoplo (K) no afecta al FSR, sino que su función es modular la profundidad y anchura de las caídas de transmisión (resonancias).</a:t>
            </a:r>
          </a:p>
          <a:p>
            <a:pPr algn="just"/>
            <a:r>
              <a:rPr lang="es-ES" sz="1200" dirty="0">
                <a:latin typeface="Arial" panose="020B0604020202020204" pitchFamily="34" charset="0"/>
                <a:cs typeface="Arial" panose="020B0604020202020204" pitchFamily="34" charset="0"/>
              </a:rPr>
              <a:t>Al operar con un coeficiente de acoplo de K = 0.5, la respuesta espectral obtenida en la simulación arroja una Relación de Extinción (ER) de 10.12 dB.</a:t>
            </a:r>
          </a:p>
          <a:p>
            <a:pPr algn="just"/>
            <a:r>
              <a:rPr lang="es-ES" sz="1200" dirty="0">
                <a:latin typeface="Arial" panose="020B0604020202020204" pitchFamily="34" charset="0"/>
                <a:cs typeface="Arial" panose="020B0604020202020204" pitchFamily="34" charset="0"/>
              </a:rPr>
              <a:t>Finalmente, para alcanzar la condición ideal de acoplo crítico, sería necesario calibrar el valor de K para que la luz inyectada iguale exactamente las pérdidas por cada vuelta en el anillo. Esto generaría una interferencia destructiva casi perfecta a la salida, hundiendo la transmisión mínima hacia cero y maximizando drásticamente la relación de extinción.</a:t>
            </a:r>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188A673A-5C94-02DD-5A1B-8DAA7A3F81AF}"/>
              </a:ext>
            </a:extLst>
          </p:cNvPr>
          <p:cNvSpPr/>
          <p:nvPr/>
        </p:nvSpPr>
        <p:spPr>
          <a:xfrm>
            <a:off x="611030" y="1418373"/>
            <a:ext cx="5555674" cy="298155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ángulo 13">
            <a:extLst>
              <a:ext uri="{FF2B5EF4-FFF2-40B4-BE49-F238E27FC236}">
                <a16:creationId xmlns:a16="http://schemas.microsoft.com/office/drawing/2014/main" id="{109C64AD-FF4A-B7A5-C628-2F4CDC307012}"/>
              </a:ext>
            </a:extLst>
          </p:cNvPr>
          <p:cNvSpPr/>
          <p:nvPr/>
        </p:nvSpPr>
        <p:spPr>
          <a:xfrm>
            <a:off x="6166704" y="1418373"/>
            <a:ext cx="5643855" cy="298155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áfico 8">
            <a:extLst>
              <a:ext uri="{FF2B5EF4-FFF2-40B4-BE49-F238E27FC236}">
                <a16:creationId xmlns:a16="http://schemas.microsoft.com/office/drawing/2014/main" id="{C755DC43-974E-FA62-BD76-34F81F08757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0" name="object 16">
            <a:extLst>
              <a:ext uri="{FF2B5EF4-FFF2-40B4-BE49-F238E27FC236}">
                <a16:creationId xmlns:a16="http://schemas.microsoft.com/office/drawing/2014/main" id="{DFA79D27-CCFA-BDAD-CB61-168123CF9B61}"/>
              </a:ext>
            </a:extLst>
          </p:cNvPr>
          <p:cNvSpPr txBox="1">
            <a:spLocks/>
          </p:cNvSpPr>
          <p:nvPr/>
        </p:nvSpPr>
        <p:spPr>
          <a:xfrm>
            <a:off x="685800" y="408883"/>
            <a:ext cx="10994410" cy="579646"/>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kern="0" dirty="0"/>
              <a:t>Learning outcome #5 – Ring resonator design</a:t>
            </a:r>
          </a:p>
          <a:p>
            <a:pPr marL="12700">
              <a:spcBef>
                <a:spcPts val="100"/>
              </a:spcBef>
            </a:pPr>
            <a:r>
              <a:rPr lang="en-US" sz="1600" b="0" kern="0" spc="-5" dirty="0">
                <a:cs typeface="Lucida Sans"/>
              </a:rPr>
              <a:t>Design the perimeter for a FSR = 15 nm. </a:t>
            </a:r>
          </a:p>
        </p:txBody>
      </p:sp>
      <p:pic>
        <p:nvPicPr>
          <p:cNvPr id="3" name="Imagen 2">
            <a:extLst>
              <a:ext uri="{FF2B5EF4-FFF2-40B4-BE49-F238E27FC236}">
                <a16:creationId xmlns:a16="http://schemas.microsoft.com/office/drawing/2014/main" id="{CEFB9DF5-DD83-44BC-16F2-6CB7D5BAF3C9}"/>
              </a:ext>
            </a:extLst>
          </p:cNvPr>
          <p:cNvPicPr>
            <a:picLocks noChangeAspect="1"/>
          </p:cNvPicPr>
          <p:nvPr/>
        </p:nvPicPr>
        <p:blipFill>
          <a:blip r:embed="rId3"/>
          <a:stretch>
            <a:fillRect/>
          </a:stretch>
        </p:blipFill>
        <p:spPr>
          <a:xfrm>
            <a:off x="657278" y="1909343"/>
            <a:ext cx="5463179" cy="2000601"/>
          </a:xfrm>
          <a:prstGeom prst="rect">
            <a:avLst/>
          </a:prstGeom>
        </p:spPr>
      </p:pic>
      <p:pic>
        <p:nvPicPr>
          <p:cNvPr id="13" name="Imagen 12">
            <a:extLst>
              <a:ext uri="{FF2B5EF4-FFF2-40B4-BE49-F238E27FC236}">
                <a16:creationId xmlns:a16="http://schemas.microsoft.com/office/drawing/2014/main" id="{DC09C761-1C6D-4F19-C428-5A130AFC7C54}"/>
              </a:ext>
            </a:extLst>
          </p:cNvPr>
          <p:cNvPicPr>
            <a:picLocks noChangeAspect="1"/>
          </p:cNvPicPr>
          <p:nvPr/>
        </p:nvPicPr>
        <p:blipFill>
          <a:blip r:embed="rId4"/>
          <a:stretch>
            <a:fillRect/>
          </a:stretch>
        </p:blipFill>
        <p:spPr>
          <a:xfrm>
            <a:off x="2456707" y="3904627"/>
            <a:ext cx="2124075" cy="495300"/>
          </a:xfrm>
          <a:prstGeom prst="rect">
            <a:avLst/>
          </a:prstGeom>
        </p:spPr>
      </p:pic>
      <p:pic>
        <p:nvPicPr>
          <p:cNvPr id="16" name="Imagen 15">
            <a:extLst>
              <a:ext uri="{FF2B5EF4-FFF2-40B4-BE49-F238E27FC236}">
                <a16:creationId xmlns:a16="http://schemas.microsoft.com/office/drawing/2014/main" id="{E5BA148A-92CA-B893-6365-8B7FA4449B0E}"/>
              </a:ext>
            </a:extLst>
          </p:cNvPr>
          <p:cNvPicPr>
            <a:picLocks noChangeAspect="1"/>
          </p:cNvPicPr>
          <p:nvPr/>
        </p:nvPicPr>
        <p:blipFill>
          <a:blip r:embed="rId4"/>
          <a:stretch>
            <a:fillRect/>
          </a:stretch>
        </p:blipFill>
        <p:spPr>
          <a:xfrm>
            <a:off x="8119384" y="3892193"/>
            <a:ext cx="2124075" cy="495300"/>
          </a:xfrm>
          <a:prstGeom prst="rect">
            <a:avLst/>
          </a:prstGeom>
        </p:spPr>
      </p:pic>
      <p:pic>
        <p:nvPicPr>
          <p:cNvPr id="21" name="Imagen 20">
            <a:extLst>
              <a:ext uri="{FF2B5EF4-FFF2-40B4-BE49-F238E27FC236}">
                <a16:creationId xmlns:a16="http://schemas.microsoft.com/office/drawing/2014/main" id="{AED19697-83D7-FFBD-1CAB-66E3AE6F17DE}"/>
              </a:ext>
            </a:extLst>
          </p:cNvPr>
          <p:cNvPicPr>
            <a:picLocks noChangeAspect="1"/>
          </p:cNvPicPr>
          <p:nvPr/>
        </p:nvPicPr>
        <p:blipFill>
          <a:blip r:embed="rId5"/>
          <a:stretch>
            <a:fillRect/>
          </a:stretch>
        </p:blipFill>
        <p:spPr>
          <a:xfrm>
            <a:off x="6254886" y="1924131"/>
            <a:ext cx="5490234" cy="2000601"/>
          </a:xfrm>
          <a:prstGeom prst="rect">
            <a:avLst/>
          </a:prstGeom>
        </p:spPr>
      </p:pic>
    </p:spTree>
    <p:extLst>
      <p:ext uri="{BB962C8B-B14F-4D97-AF65-F5344CB8AC3E}">
        <p14:creationId xmlns:p14="http://schemas.microsoft.com/office/powerpoint/2010/main" val="3235579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10</a:t>
            </a:fld>
            <a:endParaRPr lang="en-US"/>
          </a:p>
        </p:txBody>
      </p:sp>
      <p:pic>
        <p:nvPicPr>
          <p:cNvPr id="3" name="Gráfico 2">
            <a:extLst>
              <a:ext uri="{FF2B5EF4-FFF2-40B4-BE49-F238E27FC236}">
                <a16:creationId xmlns:a16="http://schemas.microsoft.com/office/drawing/2014/main" id="{0B245A9E-6C9A-F3A8-E4B7-66158012641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6" name="object 16">
            <a:extLst>
              <a:ext uri="{FF2B5EF4-FFF2-40B4-BE49-F238E27FC236}">
                <a16:creationId xmlns:a16="http://schemas.microsoft.com/office/drawing/2014/main" id="{8266F13B-05F1-81DE-B638-66D10EEB9FA2}"/>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#6a – Effect of K </a:t>
            </a:r>
          </a:p>
          <a:p>
            <a:pPr marL="12700">
              <a:spcBef>
                <a:spcPts val="100"/>
              </a:spcBef>
            </a:pPr>
            <a:r>
              <a:rPr lang="en-US" b="0" kern="0" spc="-5">
                <a:latin typeface="+mj-lt"/>
                <a:cs typeface="Lucida Sans"/>
              </a:rPr>
              <a:t>Change K value between 0.1 and 0.9 in steps of 0.1</a:t>
            </a:r>
          </a:p>
        </p:txBody>
      </p:sp>
      <p:pic>
        <p:nvPicPr>
          <p:cNvPr id="4" name="Imagen 3">
            <a:extLst>
              <a:ext uri="{FF2B5EF4-FFF2-40B4-BE49-F238E27FC236}">
                <a16:creationId xmlns:a16="http://schemas.microsoft.com/office/drawing/2014/main" id="{113D38D5-E68C-5DEF-A822-C5EFAADFD223}"/>
              </a:ext>
            </a:extLst>
          </p:cNvPr>
          <p:cNvPicPr>
            <a:picLocks noChangeAspect="1"/>
          </p:cNvPicPr>
          <p:nvPr/>
        </p:nvPicPr>
        <p:blipFill>
          <a:blip r:embed="rId3"/>
          <a:stretch>
            <a:fillRect/>
          </a:stretch>
        </p:blipFill>
        <p:spPr>
          <a:xfrm>
            <a:off x="760827" y="1127028"/>
            <a:ext cx="6758654" cy="5053358"/>
          </a:xfrm>
          <a:prstGeom prst="rect">
            <a:avLst/>
          </a:prstGeom>
        </p:spPr>
      </p:pic>
      <p:pic>
        <p:nvPicPr>
          <p:cNvPr id="17" name="Imagen 16">
            <a:extLst>
              <a:ext uri="{FF2B5EF4-FFF2-40B4-BE49-F238E27FC236}">
                <a16:creationId xmlns:a16="http://schemas.microsoft.com/office/drawing/2014/main" id="{91A7DB6A-A6E4-DEAB-6AC0-3FA2B3AC56D7}"/>
              </a:ext>
            </a:extLst>
          </p:cNvPr>
          <p:cNvPicPr>
            <a:picLocks noChangeAspect="1"/>
          </p:cNvPicPr>
          <p:nvPr/>
        </p:nvPicPr>
        <p:blipFill>
          <a:blip r:embed="rId4"/>
          <a:stretch>
            <a:fillRect/>
          </a:stretch>
        </p:blipFill>
        <p:spPr>
          <a:xfrm>
            <a:off x="7745446" y="2026697"/>
            <a:ext cx="4171950" cy="3057525"/>
          </a:xfrm>
          <a:prstGeom prst="rect">
            <a:avLst/>
          </a:prstGeom>
        </p:spPr>
      </p:pic>
    </p:spTree>
    <p:extLst>
      <p:ext uri="{BB962C8B-B14F-4D97-AF65-F5344CB8AC3E}">
        <p14:creationId xmlns:p14="http://schemas.microsoft.com/office/powerpoint/2010/main" val="1931625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BBE8F-F01F-B81D-EEC9-51653EAB5D0E}"/>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4744E180-9893-E7A8-5F8D-8CB843D3F29E}"/>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3C5F2509-605D-671E-BC0C-9F452FA62595}"/>
              </a:ext>
            </a:extLst>
          </p:cNvPr>
          <p:cNvSpPr>
            <a:spLocks noGrp="1"/>
          </p:cNvSpPr>
          <p:nvPr>
            <p:ph type="sldNum" sz="quarter" idx="7"/>
          </p:nvPr>
        </p:nvSpPr>
        <p:spPr/>
        <p:txBody>
          <a:bodyPr/>
          <a:lstStyle/>
          <a:p>
            <a:fld id="{C2F52289-4012-4053-9770-FE82CEB9514F}" type="slidenum">
              <a:rPr lang="en-US" smtClean="0"/>
              <a:pPr/>
              <a:t>11</a:t>
            </a:fld>
            <a:endParaRPr lang="en-US"/>
          </a:p>
        </p:txBody>
      </p:sp>
      <p:sp>
        <p:nvSpPr>
          <p:cNvPr id="8" name="CuadroTexto 7">
            <a:extLst>
              <a:ext uri="{FF2B5EF4-FFF2-40B4-BE49-F238E27FC236}">
                <a16:creationId xmlns:a16="http://schemas.microsoft.com/office/drawing/2014/main" id="{921B60A4-332D-8D22-F697-6829DEA49A00}"/>
              </a:ext>
            </a:extLst>
          </p:cNvPr>
          <p:cNvSpPr txBox="1"/>
          <p:nvPr/>
        </p:nvSpPr>
        <p:spPr>
          <a:xfrm>
            <a:off x="480680" y="2151727"/>
            <a:ext cx="11199530" cy="2554545"/>
          </a:xfrm>
          <a:prstGeom prst="rect">
            <a:avLst/>
          </a:prstGeom>
          <a:solidFill>
            <a:schemeClr val="bg1">
              <a:lumMod val="95000"/>
            </a:schemeClr>
          </a:solidFill>
          <a:ln w="28575">
            <a:solidFill>
              <a:srgbClr val="E0700D"/>
            </a:solidFill>
          </a:ln>
        </p:spPr>
        <p:txBody>
          <a:bodyPr wrap="square" rtlCol="0">
            <a:spAutoFit/>
          </a:bodyPr>
          <a:lstStyle/>
          <a:p>
            <a:pPr algn="just"/>
            <a:r>
              <a:rPr lang="es-ES" sz="1600" dirty="0">
                <a:latin typeface="Arial" panose="020B0604020202020204" pitchFamily="34" charset="0"/>
                <a:cs typeface="Arial" panose="020B0604020202020204" pitchFamily="34" charset="0"/>
              </a:rPr>
              <a:t>El coeficiente de acoplo (K) es el parámetro que controla directamente la profundidad y anchura de las resonancias. Atendiendo a su valor, el comportamiento del anillo se clasifica en tres regímenes:</a:t>
            </a:r>
          </a:p>
          <a:p>
            <a:pPr algn="just"/>
            <a:r>
              <a:rPr lang="es-ES" sz="1600" dirty="0">
                <a:latin typeface="Arial" panose="020B0604020202020204" pitchFamily="34" charset="0"/>
                <a:cs typeface="Arial" panose="020B0604020202020204" pitchFamily="34" charset="0"/>
              </a:rPr>
              <a:t>Régimen </a:t>
            </a:r>
            <a:r>
              <a:rPr lang="es-ES" sz="1600" dirty="0" err="1">
                <a:latin typeface="Arial" panose="020B0604020202020204" pitchFamily="34" charset="0"/>
                <a:cs typeface="Arial" panose="020B0604020202020204" pitchFamily="34" charset="0"/>
              </a:rPr>
              <a:t>subacoplado</a:t>
            </a:r>
            <a:r>
              <a:rPr lang="es-ES" sz="1600" dirty="0">
                <a:latin typeface="Arial" panose="020B0604020202020204" pitchFamily="34" charset="0"/>
                <a:cs typeface="Arial" panose="020B0604020202020204" pitchFamily="34" charset="0"/>
              </a:rPr>
              <a:t> (K &lt; K critico): Entra poca luz al resonador, lo que genera valles de transmisión poco profundos y un ER bajo.</a:t>
            </a:r>
          </a:p>
          <a:p>
            <a:pPr algn="just"/>
            <a:r>
              <a:rPr lang="es-ES" sz="1600" dirty="0">
                <a:latin typeface="Arial" panose="020B0604020202020204" pitchFamily="34" charset="0"/>
                <a:cs typeface="Arial" panose="020B0604020202020204" pitchFamily="34" charset="0"/>
              </a:rPr>
              <a:t>Acoplo crítico (K aprox. K critico): El cálculo teórico para este diseño establece que K critico = 1 - a^2 = 0.308. El valor simulado más cercano a esta condición ideal es K = 0.3, donde se logra una interferencia destructiva óptima y la relación de extinción alcanza su máximo teórico con un valor de 35.45 dB.</a:t>
            </a:r>
          </a:p>
          <a:p>
            <a:pPr algn="just"/>
            <a:r>
              <a:rPr lang="es-ES" sz="1600" dirty="0">
                <a:latin typeface="Arial" panose="020B0604020202020204" pitchFamily="34" charset="0"/>
                <a:cs typeface="Arial" panose="020B0604020202020204" pitchFamily="34" charset="0"/>
              </a:rPr>
              <a:t>Régimen </a:t>
            </a:r>
            <a:r>
              <a:rPr lang="es-ES" sz="1600" dirty="0" err="1">
                <a:latin typeface="Arial" panose="020B0604020202020204" pitchFamily="34" charset="0"/>
                <a:cs typeface="Arial" panose="020B0604020202020204" pitchFamily="34" charset="0"/>
              </a:rPr>
              <a:t>sobreacoplado</a:t>
            </a:r>
            <a:r>
              <a:rPr lang="es-ES" sz="1600" dirty="0">
                <a:latin typeface="Arial" panose="020B0604020202020204" pitchFamily="34" charset="0"/>
                <a:cs typeface="Arial" panose="020B0604020202020204" pitchFamily="34" charset="0"/>
              </a:rPr>
              <a:t> (K &gt; K critico): Al inyectar un exceso de luz superando el punto crítico, los mínimos de transmisión se vuelven más anchos y menos profundos, provocando que la ER vuelva a disminuir.</a:t>
            </a:r>
          </a:p>
          <a:p>
            <a:pPr algn="just"/>
            <a:r>
              <a:rPr lang="es-ES" sz="1600" dirty="0">
                <a:latin typeface="Arial" panose="020B0604020202020204" pitchFamily="34" charset="0"/>
                <a:cs typeface="Arial" panose="020B0604020202020204" pitchFamily="34" charset="0"/>
              </a:rPr>
              <a:t>Por lo tanto, la simulación con un coeficiente de K = 0.3 es la que mejor representa el acoplo crítico de nuestro sistema.</a:t>
            </a:r>
            <a:endParaRPr lang="en-US" sz="1600" dirty="0">
              <a:latin typeface="Arial" panose="020B0604020202020204" pitchFamily="34" charset="0"/>
              <a:cs typeface="Arial" panose="020B0604020202020204" pitchFamily="34" charset="0"/>
            </a:endParaRPr>
          </a:p>
        </p:txBody>
      </p:sp>
      <p:pic>
        <p:nvPicPr>
          <p:cNvPr id="3" name="Gráfico 2">
            <a:extLst>
              <a:ext uri="{FF2B5EF4-FFF2-40B4-BE49-F238E27FC236}">
                <a16:creationId xmlns:a16="http://schemas.microsoft.com/office/drawing/2014/main" id="{0AF81E97-EFF6-0463-DF89-99563BA6F2B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6" name="object 16">
            <a:extLst>
              <a:ext uri="{FF2B5EF4-FFF2-40B4-BE49-F238E27FC236}">
                <a16:creationId xmlns:a16="http://schemas.microsoft.com/office/drawing/2014/main" id="{B11CCA9A-73E3-2369-B30E-6D1FD654E8E4}"/>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#6a – Effect of K </a:t>
            </a:r>
          </a:p>
          <a:p>
            <a:pPr marL="12700">
              <a:spcBef>
                <a:spcPts val="100"/>
              </a:spcBef>
            </a:pPr>
            <a:r>
              <a:rPr lang="en-US" b="0" kern="0" spc="-5">
                <a:latin typeface="+mj-lt"/>
                <a:cs typeface="Lucida Sans"/>
              </a:rPr>
              <a:t>Change K value between 0.1 and 0.9 in steps of 0.1</a:t>
            </a:r>
          </a:p>
        </p:txBody>
      </p:sp>
    </p:spTree>
    <p:extLst>
      <p:ext uri="{BB962C8B-B14F-4D97-AF65-F5344CB8AC3E}">
        <p14:creationId xmlns:p14="http://schemas.microsoft.com/office/powerpoint/2010/main" val="1231359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01446-A48F-4538-88A0-699DC0A39E8F}"/>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3309804-0ABA-073A-2C58-F34E8B311DF4}"/>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97E3817D-FD1B-5E6B-CD13-E603AB34F1AE}"/>
              </a:ext>
            </a:extLst>
          </p:cNvPr>
          <p:cNvSpPr>
            <a:spLocks noGrp="1"/>
          </p:cNvSpPr>
          <p:nvPr>
            <p:ph type="sldNum" sz="quarter" idx="7"/>
          </p:nvPr>
        </p:nvSpPr>
        <p:spPr/>
        <p:txBody>
          <a:bodyPr/>
          <a:lstStyle/>
          <a:p>
            <a:fld id="{C2F52289-4012-4053-9770-FE82CEB9514F}" type="slidenum">
              <a:rPr lang="en-US" smtClean="0"/>
              <a:pPr/>
              <a:t>12</a:t>
            </a:fld>
            <a:endParaRPr lang="en-US"/>
          </a:p>
        </p:txBody>
      </p:sp>
      <p:sp>
        <p:nvSpPr>
          <p:cNvPr id="8" name="CuadroTexto 7">
            <a:extLst>
              <a:ext uri="{FF2B5EF4-FFF2-40B4-BE49-F238E27FC236}">
                <a16:creationId xmlns:a16="http://schemas.microsoft.com/office/drawing/2014/main" id="{A112BFA8-3331-B842-B882-65BB3B02581E}"/>
              </a:ext>
            </a:extLst>
          </p:cNvPr>
          <p:cNvSpPr txBox="1"/>
          <p:nvPr/>
        </p:nvSpPr>
        <p:spPr>
          <a:xfrm>
            <a:off x="496235" y="3773242"/>
            <a:ext cx="11199530" cy="1384995"/>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Al mantener el coeficiente de acoplo fijo y variar las pérdidas de propagación (</a:t>
            </a:r>
            <a:r>
              <a:rPr lang="es-ES" sz="1200" dirty="0" err="1">
                <a:latin typeface="Arial" panose="020B0604020202020204" pitchFamily="34" charset="0"/>
                <a:cs typeface="Arial" panose="020B0604020202020204" pitchFamily="34" charset="0"/>
              </a:rPr>
              <a:t>alpha</a:t>
            </a:r>
            <a:r>
              <a:rPr lang="es-ES" sz="1200" dirty="0">
                <a:latin typeface="Arial" panose="020B0604020202020204" pitchFamily="34" charset="0"/>
                <a:cs typeface="Arial" panose="020B0604020202020204" pitchFamily="34" charset="0"/>
              </a:rPr>
              <a:t>), el FSR no cambia, pero sí lo hace el contraste de las resonancias:</a:t>
            </a:r>
          </a:p>
          <a:p>
            <a:pPr algn="just"/>
            <a:r>
              <a:rPr lang="es-ES" sz="1200" dirty="0">
                <a:latin typeface="Arial" panose="020B0604020202020204" pitchFamily="34" charset="0"/>
                <a:cs typeface="Arial" panose="020B0604020202020204" pitchFamily="34" charset="0"/>
              </a:rPr>
              <a:t>Bajas pérdidas (0 a 2 dB/cm): El anillo está </a:t>
            </a:r>
            <a:r>
              <a:rPr lang="es-ES" sz="1200" dirty="0" err="1">
                <a:latin typeface="Arial" panose="020B0604020202020204" pitchFamily="34" charset="0"/>
                <a:cs typeface="Arial" panose="020B0604020202020204" pitchFamily="34" charset="0"/>
              </a:rPr>
              <a:t>sobreacoplado</a:t>
            </a:r>
            <a:r>
              <a:rPr lang="es-ES" sz="1200" dirty="0">
                <a:latin typeface="Arial" panose="020B0604020202020204" pitchFamily="34" charset="0"/>
                <a:cs typeface="Arial" panose="020B0604020202020204" pitchFamily="34" charset="0"/>
              </a:rPr>
              <a:t>. La cantidad de luz inyectada supera con creces a las bajas pérdidas internas, produciendo valles de transmisión muy poco profundos.</a:t>
            </a:r>
          </a:p>
          <a:p>
            <a:pPr algn="just"/>
            <a:r>
              <a:rPr lang="es-ES" sz="1200" dirty="0">
                <a:latin typeface="Arial" panose="020B0604020202020204" pitchFamily="34" charset="0"/>
                <a:cs typeface="Arial" panose="020B0604020202020204" pitchFamily="34" charset="0"/>
              </a:rPr>
              <a:t>Altas pérdidas (8 dB/cm): Al aumentar la atenuación interna, las resonancias se pronuncian progresivamente, alcanzando una Relación de Extinción (ER) máxima de 10.63 dB.</a:t>
            </a:r>
          </a:p>
          <a:p>
            <a:pPr algn="just"/>
            <a:r>
              <a:rPr lang="es-ES" sz="1200" dirty="0">
                <a:latin typeface="Arial" panose="020B0604020202020204" pitchFamily="34" charset="0"/>
                <a:cs typeface="Arial" panose="020B0604020202020204" pitchFamily="34" charset="0"/>
              </a:rPr>
              <a:t>En conclusión, el escenario con </a:t>
            </a:r>
            <a:r>
              <a:rPr lang="es-ES" sz="1200">
                <a:latin typeface="Arial" panose="020B0604020202020204" pitchFamily="34" charset="0"/>
                <a:cs typeface="Arial" panose="020B0604020202020204" pitchFamily="34" charset="0"/>
              </a:rPr>
              <a:t>alpha </a:t>
            </a:r>
            <a:r>
              <a:rPr lang="es-ES" sz="1200" dirty="0">
                <a:latin typeface="Arial" panose="020B0604020202020204" pitchFamily="34" charset="0"/>
                <a:cs typeface="Arial" panose="020B0604020202020204" pitchFamily="34" charset="0"/>
              </a:rPr>
              <a:t>= 8 dB/cm es el que más se aproxima a la condición de acoplo crítico de todos los evaluados. Sin embargo, dado que la transmisión mínima no cae completamente a cero, el sistema no llega a alcanzar la interferencia destructiva perfecta.</a:t>
            </a:r>
            <a:endParaRPr lang="en-US" sz="1200" dirty="0">
              <a:latin typeface="Arial" panose="020B0604020202020204" pitchFamily="34" charset="0"/>
              <a:cs typeface="Arial" panose="020B0604020202020204" pitchFamily="34" charset="0"/>
            </a:endParaRPr>
          </a:p>
        </p:txBody>
      </p:sp>
      <p:pic>
        <p:nvPicPr>
          <p:cNvPr id="17" name="Gráfico 16">
            <a:extLst>
              <a:ext uri="{FF2B5EF4-FFF2-40B4-BE49-F238E27FC236}">
                <a16:creationId xmlns:a16="http://schemas.microsoft.com/office/drawing/2014/main" id="{BBFAFFF0-5B27-4ECB-8465-86BE3ABF3E4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8" name="object 16">
            <a:extLst>
              <a:ext uri="{FF2B5EF4-FFF2-40B4-BE49-F238E27FC236}">
                <a16:creationId xmlns:a16="http://schemas.microsoft.com/office/drawing/2014/main" id="{ACB3BE37-74AD-3746-6410-09EF26034A0F}"/>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#6b – E</a:t>
            </a:r>
            <a:r>
              <a:rPr lang="en-US" sz="2500"/>
              <a:t>ffect of loss</a:t>
            </a:r>
            <a:endParaRPr lang="en-US" sz="2500" kern="0"/>
          </a:p>
          <a:p>
            <a:pPr marL="12700">
              <a:spcBef>
                <a:spcPts val="100"/>
              </a:spcBef>
            </a:pPr>
            <a:r>
              <a:rPr lang="en-US" b="0" kern="0" spc="-5">
                <a:latin typeface="+mj-lt"/>
                <a:cs typeface="Lucida Sans"/>
              </a:rPr>
              <a:t>Change losses value between 0 and 8 </a:t>
            </a:r>
            <a:r>
              <a:rPr lang="en-US" b="0" kern="0" spc="-5">
                <a:solidFill>
                  <a:srgbClr val="FF0000"/>
                </a:solidFill>
                <a:latin typeface="+mj-lt"/>
                <a:cs typeface="Lucida Sans"/>
              </a:rPr>
              <a:t>dB/cm </a:t>
            </a:r>
            <a:r>
              <a:rPr lang="en-US" b="0" kern="0" spc="-5">
                <a:latin typeface="+mj-lt"/>
                <a:cs typeface="Lucida Sans"/>
              </a:rPr>
              <a:t>in steps of 1</a:t>
            </a:r>
          </a:p>
        </p:txBody>
      </p:sp>
      <p:pic>
        <p:nvPicPr>
          <p:cNvPr id="3" name="Imagen 2">
            <a:extLst>
              <a:ext uri="{FF2B5EF4-FFF2-40B4-BE49-F238E27FC236}">
                <a16:creationId xmlns:a16="http://schemas.microsoft.com/office/drawing/2014/main" id="{001C015F-6FE2-80BD-7582-AF4272F392B5}"/>
              </a:ext>
            </a:extLst>
          </p:cNvPr>
          <p:cNvPicPr>
            <a:picLocks noChangeAspect="1"/>
          </p:cNvPicPr>
          <p:nvPr/>
        </p:nvPicPr>
        <p:blipFill>
          <a:blip r:embed="rId3"/>
          <a:stretch>
            <a:fillRect/>
          </a:stretch>
        </p:blipFill>
        <p:spPr>
          <a:xfrm>
            <a:off x="1067813" y="1166668"/>
            <a:ext cx="9239250" cy="2543175"/>
          </a:xfrm>
          <a:prstGeom prst="rect">
            <a:avLst/>
          </a:prstGeom>
        </p:spPr>
      </p:pic>
    </p:spTree>
    <p:extLst>
      <p:ext uri="{BB962C8B-B14F-4D97-AF65-F5344CB8AC3E}">
        <p14:creationId xmlns:p14="http://schemas.microsoft.com/office/powerpoint/2010/main" val="1191059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13</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7be9dd68-821f-4769-bb1a-d4db8ea6b1e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494B0554F3C7DA45B142B5B41AB70CB6" ma:contentTypeVersion="16" ma:contentTypeDescription="Crear nuevo documento." ma:contentTypeScope="" ma:versionID="b5e9851df5dfe70bd1ae0c12535dbeee">
  <xsd:schema xmlns:xsd="http://www.w3.org/2001/XMLSchema" xmlns:xs="http://www.w3.org/2001/XMLSchema" xmlns:p="http://schemas.microsoft.com/office/2006/metadata/properties" xmlns:ns3="7be9dd68-821f-4769-bb1a-d4db8ea6b1ea" xmlns:ns4="c18c0eeb-88ef-408f-8212-622d99f66ba6" targetNamespace="http://schemas.microsoft.com/office/2006/metadata/properties" ma:root="true" ma:fieldsID="130d106b9d13d1ac1428fd59a00b92f1" ns3:_="" ns4:_="">
    <xsd:import namespace="7be9dd68-821f-4769-bb1a-d4db8ea6b1ea"/>
    <xsd:import namespace="c18c0eeb-88ef-408f-8212-622d99f66ba6"/>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SearchProperties" minOccurs="0"/>
                <xsd:element ref="ns3:_activity" minOccurs="0"/>
                <xsd:element ref="ns3:MediaServiceObjectDetectorVersions" minOccurs="0"/>
                <xsd:element ref="ns3:MediaServiceDateTaken"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e9dd68-821f-4769-bb1a-d4db8ea6b1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18c0eeb-88ef-408f-8212-622d99f66ba6" elementFormDefault="qualified">
    <xsd:import namespace="http://schemas.microsoft.com/office/2006/documentManagement/types"/>
    <xsd:import namespace="http://schemas.microsoft.com/office/infopath/2007/PartnerControls"/>
    <xsd:element name="SharedWithUsers" ma:index="12"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Detalles de uso compartido" ma:internalName="SharedWithDetails" ma:readOnly="true">
      <xsd:simpleType>
        <xsd:restriction base="dms:Note">
          <xsd:maxLength value="255"/>
        </xsd:restriction>
      </xsd:simpleType>
    </xsd:element>
    <xsd:element name="SharingHintHash" ma:index="14"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6080FD0-2E8F-4C52-88C0-51A6DC75B8FD}">
  <ds:schemaRefs>
    <ds:schemaRef ds:uri="http://schemas.microsoft.com/sharepoint/v3/contenttype/forms"/>
  </ds:schemaRefs>
</ds:datastoreItem>
</file>

<file path=customXml/itemProps2.xml><?xml version="1.0" encoding="utf-8"?>
<ds:datastoreItem xmlns:ds="http://schemas.openxmlformats.org/officeDocument/2006/customXml" ds:itemID="{F801422B-5BCE-4B20-8670-442D62D008C3}">
  <ds:schemaRefs>
    <ds:schemaRef ds:uri="http://schemas.microsoft.com/office/2006/metadata/properties"/>
    <ds:schemaRef ds:uri="http://purl.org/dc/elements/1.1/"/>
    <ds:schemaRef ds:uri="c18c0eeb-88ef-408f-8212-622d99f66ba6"/>
    <ds:schemaRef ds:uri="http://purl.org/dc/terms/"/>
    <ds:schemaRef ds:uri="http://schemas.microsoft.com/office/infopath/2007/PartnerControls"/>
    <ds:schemaRef ds:uri="http://schemas.microsoft.com/office/2006/documentManagement/types"/>
    <ds:schemaRef ds:uri="http://www.w3.org/XML/1998/namespace"/>
    <ds:schemaRef ds:uri="http://schemas.openxmlformats.org/package/2006/metadata/core-properties"/>
    <ds:schemaRef ds:uri="7be9dd68-821f-4769-bb1a-d4db8ea6b1ea"/>
    <ds:schemaRef ds:uri="http://purl.org/dc/dcmitype/"/>
  </ds:schemaRefs>
</ds:datastoreItem>
</file>

<file path=customXml/itemProps3.xml><?xml version="1.0" encoding="utf-8"?>
<ds:datastoreItem xmlns:ds="http://schemas.openxmlformats.org/officeDocument/2006/customXml" ds:itemID="{4817B461-1ABC-4832-B5B0-FC2A6A69D61F}">
  <ds:schemaRefs>
    <ds:schemaRef ds:uri="7be9dd68-821f-4769-bb1a-d4db8ea6b1ea"/>
    <ds:schemaRef ds:uri="c18c0eeb-88ef-408f-8212-622d99f66ba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0</TotalTime>
  <Words>2104</Words>
  <Application>Microsoft Office PowerPoint</Application>
  <PresentationFormat>Panorámica</PresentationFormat>
  <Paragraphs>135</Paragraphs>
  <Slides>13</Slides>
  <Notes>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13</vt:i4>
      </vt:variant>
    </vt:vector>
  </HeadingPairs>
  <TitlesOfParts>
    <vt:vector size="20" baseType="lpstr">
      <vt:lpstr>Aptos</vt:lpstr>
      <vt:lpstr>Arial</vt:lpstr>
      <vt:lpstr>Calibri</vt:lpstr>
      <vt:lpstr>Cambria Math</vt:lpstr>
      <vt:lpstr>Lucida Sans</vt:lpstr>
      <vt:lpstr>Wingdings</vt:lpstr>
      <vt:lpstr>Office Theme</vt:lpstr>
      <vt:lpstr>Presentación de PowerPoint</vt:lpstr>
      <vt:lpstr>Instructions General</vt:lpstr>
      <vt:lpstr>Learning outcome #1a – Perfectly balanced MZI </vt:lpstr>
      <vt:lpstr>Learning outcome #1b – Unbalanced MZI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Alejandro Cattamo Bernadas</cp:lastModifiedBy>
  <cp:revision>2</cp:revision>
  <dcterms:created xsi:type="dcterms:W3CDTF">2025-01-27T02:46:57Z</dcterms:created>
  <dcterms:modified xsi:type="dcterms:W3CDTF">2026-05-27T19:39:10Z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y fmtid="{D5CDD505-2E9C-101B-9397-08002B2CF9AE}" pid="5" name="ContentTypeId">
    <vt:lpwstr>0x010100494B0554F3C7DA45B142B5B41AB70CB6</vt:lpwstr>
  </property>
</Properties>
</file>